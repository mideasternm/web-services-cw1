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1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28" d="100"/>
          <a:sy n="128" d="100"/>
        </p:scale>
        <p:origin x="156" y="6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59107893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7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3223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F1B2B">
              <a:alpha val="90000"/>
            </a:srgbClr>
          </a:solidFill>
          <a:ln w="12700">
            <a:solidFill>
              <a:srgbClr val="0F1B2B">
                <a:alpha val="0"/>
              </a:srgbClr>
            </a:solidFill>
            <a:prstDash val="solid"/>
          </a:ln>
        </p:spPr>
      </p:sp>
      <p:pic>
        <p:nvPicPr>
          <p:cNvPr id="3" name="Image 0" descr="C:\Users\26089\Desktop\Web Services and Web Data\cw1\.worktrees\feature-nutrition-api\slides\assets\hero-cover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4832699" y="411480"/>
            <a:ext cx="3762662" cy="402336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4832699" y="546354"/>
            <a:ext cx="3827976" cy="3888486"/>
          </a:xfrm>
          <a:prstGeom prst="rect">
            <a:avLst/>
          </a:prstGeom>
          <a:solidFill>
            <a:srgbClr val="132238">
              <a:alpha val="66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658368" y="804672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C8E4E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XJCO3011 Web Services and Web Data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658368" y="1335024"/>
            <a:ext cx="4480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Nutrition and Recipe Analytics API</a:t>
            </a:r>
            <a:endParaRPr lang="en-US" sz="2800" dirty="0"/>
          </a:p>
        </p:txBody>
      </p:sp>
      <p:sp>
        <p:nvSpPr>
          <p:cNvPr id="7" name="Text 4"/>
          <p:cNvSpPr/>
          <p:nvPr/>
        </p:nvSpPr>
        <p:spPr>
          <a:xfrm>
            <a:off x="658368" y="2359152"/>
            <a:ext cx="4526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D9EEF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FastAPI + SQLite coursework project with CRUD, derived nutrition analytics, automated testing, and submission-ready deliverables</a:t>
            </a:r>
            <a:endParaRPr lang="en-US" sz="1500" dirty="0"/>
          </a:p>
        </p:txBody>
      </p:sp>
      <p:sp>
        <p:nvSpPr>
          <p:cNvPr id="8" name="Shape 5"/>
          <p:cNvSpPr/>
          <p:nvPr/>
        </p:nvSpPr>
        <p:spPr>
          <a:xfrm>
            <a:off x="658368" y="3653028"/>
            <a:ext cx="3035808" cy="585216"/>
          </a:xfrm>
          <a:prstGeom prst="rect">
            <a:avLst/>
          </a:prstGeom>
          <a:solidFill>
            <a:srgbClr val="1E3849"/>
          </a:solidFill>
          <a:ln w="13970">
            <a:solidFill>
              <a:srgbClr val="D7DEE3"/>
            </a:solidFill>
            <a:prstDash val="solid"/>
          </a:ln>
          <a:effectLst>
            <a:outerShdw blurRad="12700" dist="12700" dir="2700000" algn="bl" rotWithShape="0">
              <a:srgbClr val="000000">
                <a:alpha val="8000"/>
              </a:srgbClr>
            </a:outerShdw>
          </a:effectLst>
        </p:spPr>
      </p:sp>
      <p:sp>
        <p:nvSpPr>
          <p:cNvPr id="9" name="Text 6"/>
          <p:cNvSpPr/>
          <p:nvPr/>
        </p:nvSpPr>
        <p:spPr>
          <a:xfrm>
            <a:off x="822960" y="3877056"/>
            <a:ext cx="269748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Shuyu Cao  |  5-minute oral presentation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8412480" y="4709160"/>
            <a:ext cx="274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161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F7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47472"/>
            <a:ext cx="6217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8212B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Why This Project Is More Than Basic CRUD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7360920" y="329184"/>
            <a:ext cx="1143000" cy="256032"/>
          </a:xfrm>
          <a:prstGeom prst="rect">
            <a:avLst/>
          </a:prstGeom>
          <a:solidFill>
            <a:srgbClr val="137C8B"/>
          </a:solidFill>
          <a:ln w="12700">
            <a:solidFill>
              <a:srgbClr val="137C8B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7438644" y="410827"/>
            <a:ext cx="987552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PROJECT SCOPE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786384" y="960120"/>
            <a:ext cx="39776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18212B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 recipe API is a good coursework domain because it needs both transactions and calculation.</a:t>
            </a: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786384" y="1901952"/>
            <a:ext cx="3566160" cy="1874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buSzPct val="100000"/>
              <a:buChar char="•"/>
            </a:pPr>
            <a:r>
              <a:rPr lang="en-US" sz="155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Recipes and ingredients form a real many-to-many relational model.</a:t>
            </a:r>
            <a:endParaRPr lang="en-US" sz="1550" dirty="0"/>
          </a:p>
          <a:p>
            <a:pPr marL="342900" indent="-342900">
              <a:buSzPct val="100000"/>
              <a:buChar char="•"/>
            </a:pPr>
            <a:r>
              <a:rPr lang="en-US" sz="155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Nutrition totals are derived from linked ingredient quantities rather than typed in manually.</a:t>
            </a:r>
            <a:endParaRPr lang="en-US" sz="1550" dirty="0"/>
          </a:p>
          <a:p>
            <a:pPr marL="342900" indent="-342900">
              <a:buSzPct val="100000"/>
              <a:buChar char="•"/>
            </a:pPr>
            <a:r>
              <a:rPr lang="en-US" sz="155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API can demonstrate CRUD, validation, authentication, and analytics in one coherent system.</a:t>
            </a:r>
            <a:endParaRPr lang="en-US" sz="1550" dirty="0"/>
          </a:p>
        </p:txBody>
      </p:sp>
      <p:pic>
        <p:nvPicPr>
          <p:cNvPr id="7" name="Image 0" descr="C:\Users\26089\Desktop\Web Services and Web Data\cw1\.worktrees\feature-nutrition-api\slides\assets\problem-visual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4892040" y="960120"/>
            <a:ext cx="3547872" cy="2907792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5120640" y="1234440"/>
            <a:ext cx="10515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5161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Input data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5052060" y="1810512"/>
            <a:ext cx="1463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821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recipes + ingredients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5929884" y="1819656"/>
            <a:ext cx="1828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37C8B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&gt;</a:t>
            </a:r>
            <a:endParaRPr lang="en-US" sz="1600" dirty="0"/>
          </a:p>
        </p:txBody>
      </p:sp>
      <p:sp>
        <p:nvSpPr>
          <p:cNvPr id="11" name="Text 8"/>
          <p:cNvSpPr/>
          <p:nvPr/>
        </p:nvSpPr>
        <p:spPr>
          <a:xfrm>
            <a:off x="6157458" y="1828800"/>
            <a:ext cx="11887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relational storage</a:t>
            </a:r>
            <a:endParaRPr lang="en-US" sz="1050" dirty="0"/>
          </a:p>
        </p:txBody>
      </p:sp>
      <p:sp>
        <p:nvSpPr>
          <p:cNvPr id="12" name="Text 9"/>
          <p:cNvSpPr/>
          <p:nvPr/>
        </p:nvSpPr>
        <p:spPr>
          <a:xfrm>
            <a:off x="7301484" y="1828800"/>
            <a:ext cx="1828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37C8B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&gt;</a:t>
            </a:r>
            <a:endParaRPr lang="en-US" sz="1600" dirty="0"/>
          </a:p>
        </p:txBody>
      </p:sp>
      <p:sp>
        <p:nvSpPr>
          <p:cNvPr id="13" name="Text 10"/>
          <p:cNvSpPr/>
          <p:nvPr/>
        </p:nvSpPr>
        <p:spPr>
          <a:xfrm>
            <a:off x="7596378" y="1839250"/>
            <a:ext cx="7315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analytics output</a:t>
            </a:r>
            <a:endParaRPr lang="en-US" sz="1050" dirty="0"/>
          </a:p>
        </p:txBody>
      </p:sp>
      <p:sp>
        <p:nvSpPr>
          <p:cNvPr id="14" name="Shape 11"/>
          <p:cNvSpPr/>
          <p:nvPr/>
        </p:nvSpPr>
        <p:spPr>
          <a:xfrm>
            <a:off x="502920" y="4517136"/>
            <a:ext cx="8092440" cy="0"/>
          </a:xfrm>
          <a:prstGeom prst="line">
            <a:avLst/>
          </a:prstGeom>
          <a:noFill/>
          <a:ln w="15240">
            <a:solidFill>
              <a:srgbClr val="D7DEE3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412480" y="4709160"/>
            <a:ext cx="274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161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4F7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47472"/>
            <a:ext cx="6217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8212B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Architecture and Technology Stack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7360920" y="329184"/>
            <a:ext cx="1143000" cy="256032"/>
          </a:xfrm>
          <a:prstGeom prst="rect">
            <a:avLst/>
          </a:prstGeom>
          <a:solidFill>
            <a:srgbClr val="137C8B"/>
          </a:solidFill>
          <a:ln w="12700">
            <a:solidFill>
              <a:srgbClr val="137C8B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7434072" y="384048"/>
            <a:ext cx="987552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SYSTEM DESIGN</a:t>
            </a:r>
            <a:endParaRPr lang="en-US" sz="950" dirty="0"/>
          </a:p>
        </p:txBody>
      </p:sp>
      <p:sp>
        <p:nvSpPr>
          <p:cNvPr id="5" name="Shape 3"/>
          <p:cNvSpPr/>
          <p:nvPr/>
        </p:nvSpPr>
        <p:spPr>
          <a:xfrm>
            <a:off x="621792" y="969264"/>
            <a:ext cx="1920240" cy="3182112"/>
          </a:xfrm>
          <a:prstGeom prst="rect">
            <a:avLst/>
          </a:prstGeom>
          <a:solidFill>
            <a:srgbClr val="FFFFFF"/>
          </a:solidFill>
          <a:ln w="13970">
            <a:solidFill>
              <a:srgbClr val="D7DEE3"/>
            </a:solidFill>
            <a:prstDash val="solid"/>
          </a:ln>
          <a:effectLst>
            <a:outerShdw blurRad="12700" dist="12700" dir="2700000" algn="bl" rotWithShape="0">
              <a:srgbClr val="000000">
                <a:alpha val="8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04672" y="1170432"/>
            <a:ext cx="1371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5161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Technology stack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822960" y="1481328"/>
            <a:ext cx="1481328" cy="310896"/>
          </a:xfrm>
          <a:prstGeom prst="rect">
            <a:avLst/>
          </a:prstGeom>
          <a:solidFill>
            <a:srgbClr val="EAF4F6"/>
          </a:solidFill>
          <a:ln w="13970">
            <a:solidFill>
              <a:srgbClr val="D7DEE3"/>
            </a:solidFill>
            <a:prstDash val="solid"/>
          </a:ln>
          <a:effectLst>
            <a:outerShdw blurRad="12700" dist="12700" dir="2700000" algn="bl" rotWithShape="0">
              <a:srgbClr val="000000">
                <a:alpha val="8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932688" y="1572768"/>
            <a:ext cx="1234440" cy="1005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40" b="1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FastAPI</a:t>
            </a:r>
            <a:endParaRPr lang="en-US" sz="1040" dirty="0"/>
          </a:p>
        </p:txBody>
      </p:sp>
      <p:sp>
        <p:nvSpPr>
          <p:cNvPr id="9" name="Shape 7"/>
          <p:cNvSpPr/>
          <p:nvPr/>
        </p:nvSpPr>
        <p:spPr>
          <a:xfrm>
            <a:off x="822960" y="1956816"/>
            <a:ext cx="1481328" cy="310896"/>
          </a:xfrm>
          <a:prstGeom prst="rect">
            <a:avLst/>
          </a:prstGeom>
          <a:solidFill>
            <a:srgbClr val="F0F4F7"/>
          </a:solidFill>
          <a:ln w="13970">
            <a:solidFill>
              <a:srgbClr val="D7DEE3"/>
            </a:solidFill>
            <a:prstDash val="solid"/>
          </a:ln>
          <a:effectLst>
            <a:outerShdw blurRad="12700" dist="12700" dir="2700000" algn="bl" rotWithShape="0">
              <a:srgbClr val="000000">
                <a:alpha val="8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932688" y="2048256"/>
            <a:ext cx="1234440" cy="1005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40" b="1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SQLite</a:t>
            </a:r>
            <a:endParaRPr lang="en-US" sz="1040" dirty="0"/>
          </a:p>
        </p:txBody>
      </p:sp>
      <p:sp>
        <p:nvSpPr>
          <p:cNvPr id="11" name="Shape 9"/>
          <p:cNvSpPr/>
          <p:nvPr/>
        </p:nvSpPr>
        <p:spPr>
          <a:xfrm>
            <a:off x="822960" y="2432304"/>
            <a:ext cx="1481328" cy="310896"/>
          </a:xfrm>
          <a:prstGeom prst="rect">
            <a:avLst/>
          </a:prstGeom>
          <a:solidFill>
            <a:srgbClr val="EAF4F6"/>
          </a:solidFill>
          <a:ln w="13970">
            <a:solidFill>
              <a:srgbClr val="D7DEE3"/>
            </a:solidFill>
            <a:prstDash val="solid"/>
          </a:ln>
          <a:effectLst>
            <a:outerShdw blurRad="12700" dist="12700" dir="2700000" algn="bl" rotWithShape="0">
              <a:srgbClr val="000000">
                <a:alpha val="8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932688" y="2523744"/>
            <a:ext cx="1234440" cy="1005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40" b="1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SQLAlchemy</a:t>
            </a:r>
            <a:endParaRPr lang="en-US" sz="1040" dirty="0"/>
          </a:p>
        </p:txBody>
      </p:sp>
      <p:sp>
        <p:nvSpPr>
          <p:cNvPr id="13" name="Shape 11"/>
          <p:cNvSpPr/>
          <p:nvPr/>
        </p:nvSpPr>
        <p:spPr>
          <a:xfrm>
            <a:off x="822960" y="2907792"/>
            <a:ext cx="1481328" cy="310896"/>
          </a:xfrm>
          <a:prstGeom prst="rect">
            <a:avLst/>
          </a:prstGeom>
          <a:solidFill>
            <a:srgbClr val="F0F4F7"/>
          </a:solidFill>
          <a:ln w="13970">
            <a:solidFill>
              <a:srgbClr val="D7DEE3"/>
            </a:solidFill>
            <a:prstDash val="solid"/>
          </a:ln>
          <a:effectLst>
            <a:outerShdw blurRad="12700" dist="12700" dir="2700000" algn="bl" rotWithShape="0">
              <a:srgbClr val="000000">
                <a:alpha val="8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932688" y="2999232"/>
            <a:ext cx="1234440" cy="1005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40" b="1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Pydantic</a:t>
            </a:r>
            <a:endParaRPr lang="en-US" sz="1040" dirty="0"/>
          </a:p>
        </p:txBody>
      </p:sp>
      <p:sp>
        <p:nvSpPr>
          <p:cNvPr id="15" name="Shape 13"/>
          <p:cNvSpPr/>
          <p:nvPr/>
        </p:nvSpPr>
        <p:spPr>
          <a:xfrm>
            <a:off x="822960" y="3383280"/>
            <a:ext cx="1481328" cy="310896"/>
          </a:xfrm>
          <a:prstGeom prst="rect">
            <a:avLst/>
          </a:prstGeom>
          <a:solidFill>
            <a:srgbClr val="EAF4F6"/>
          </a:solidFill>
          <a:ln w="13970">
            <a:solidFill>
              <a:srgbClr val="D7DEE3"/>
            </a:solidFill>
            <a:prstDash val="solid"/>
          </a:ln>
          <a:effectLst>
            <a:outerShdw blurRad="12700" dist="12700" dir="2700000" algn="bl" rotWithShape="0">
              <a:srgbClr val="000000">
                <a:alpha val="8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932688" y="3474720"/>
            <a:ext cx="1234440" cy="1005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40" b="1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pytest</a:t>
            </a:r>
            <a:endParaRPr lang="en-US" sz="1040" dirty="0"/>
          </a:p>
        </p:txBody>
      </p:sp>
      <p:sp>
        <p:nvSpPr>
          <p:cNvPr id="17" name="Shape 15"/>
          <p:cNvSpPr/>
          <p:nvPr/>
        </p:nvSpPr>
        <p:spPr>
          <a:xfrm>
            <a:off x="2788920" y="969264"/>
            <a:ext cx="5669280" cy="1965960"/>
          </a:xfrm>
          <a:prstGeom prst="rect">
            <a:avLst/>
          </a:prstGeom>
          <a:solidFill>
            <a:srgbClr val="FFFFFF"/>
          </a:solidFill>
          <a:ln w="13970">
            <a:solidFill>
              <a:srgbClr val="D7DEE3"/>
            </a:solidFill>
            <a:prstDash val="solid"/>
          </a:ln>
          <a:effectLst>
            <a:outerShdw blurRad="12700" dist="12700" dir="2700000" algn="bl" rotWithShape="0">
              <a:srgbClr val="000000">
                <a:alpha val="8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2999232" y="1170432"/>
            <a:ext cx="11887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5161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Request flow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2999232" y="1399032"/>
            <a:ext cx="746760" cy="649224"/>
          </a:xfrm>
          <a:prstGeom prst="rect">
            <a:avLst/>
          </a:prstGeom>
          <a:solidFill>
            <a:srgbClr val="EAF4F6"/>
          </a:solidFill>
          <a:ln w="13970">
            <a:solidFill>
              <a:srgbClr val="D7DEE3"/>
            </a:solidFill>
            <a:prstDash val="solid"/>
          </a:ln>
          <a:effectLst>
            <a:outerShdw blurRad="12700" dist="12700" dir="2700000" algn="bl" rotWithShape="0">
              <a:srgbClr val="000000">
                <a:alpha val="8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054096" y="1655064"/>
            <a:ext cx="637032" cy="1266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Client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3727704" y="1681381"/>
            <a:ext cx="128016" cy="11084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37C8B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&gt;</a:t>
            </a:r>
            <a:endParaRPr lang="en-US" sz="1500" dirty="0"/>
          </a:p>
        </p:txBody>
      </p:sp>
      <p:sp>
        <p:nvSpPr>
          <p:cNvPr id="22" name="Shape 20"/>
          <p:cNvSpPr/>
          <p:nvPr/>
        </p:nvSpPr>
        <p:spPr>
          <a:xfrm>
            <a:off x="3837432" y="1399032"/>
            <a:ext cx="746760" cy="649224"/>
          </a:xfrm>
          <a:prstGeom prst="rect">
            <a:avLst/>
          </a:prstGeom>
          <a:solidFill>
            <a:srgbClr val="EEF3F7"/>
          </a:solidFill>
          <a:ln w="13970">
            <a:solidFill>
              <a:srgbClr val="D7DEE3"/>
            </a:solidFill>
            <a:prstDash val="solid"/>
          </a:ln>
          <a:effectLst>
            <a:outerShdw blurRad="12700" dist="12700" dir="2700000" algn="bl" rotWithShape="0">
              <a:srgbClr val="000000">
                <a:alpha val="8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3892296" y="1655064"/>
            <a:ext cx="637032" cy="1266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Routers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4565904" y="1681381"/>
            <a:ext cx="128016" cy="11084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37C8B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&gt;</a:t>
            </a:r>
            <a:endParaRPr lang="en-US" sz="1500" dirty="0"/>
          </a:p>
        </p:txBody>
      </p:sp>
      <p:sp>
        <p:nvSpPr>
          <p:cNvPr id="25" name="Shape 23"/>
          <p:cNvSpPr/>
          <p:nvPr/>
        </p:nvSpPr>
        <p:spPr>
          <a:xfrm>
            <a:off x="4675632" y="1399032"/>
            <a:ext cx="746760" cy="649224"/>
          </a:xfrm>
          <a:prstGeom prst="rect">
            <a:avLst/>
          </a:prstGeom>
          <a:solidFill>
            <a:srgbClr val="EAF4F6"/>
          </a:solidFill>
          <a:ln w="13970">
            <a:solidFill>
              <a:srgbClr val="D7DEE3"/>
            </a:solidFill>
            <a:prstDash val="solid"/>
          </a:ln>
          <a:effectLst>
            <a:outerShdw blurRad="12700" dist="12700" dir="2700000" algn="bl" rotWithShape="0">
              <a:srgbClr val="000000">
                <a:alpha val="8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4730496" y="1655064"/>
            <a:ext cx="637032" cy="1266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Schemas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5404104" y="1681381"/>
            <a:ext cx="128016" cy="11084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37C8B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&gt;</a:t>
            </a:r>
            <a:endParaRPr lang="en-US" sz="1500" dirty="0"/>
          </a:p>
        </p:txBody>
      </p:sp>
      <p:sp>
        <p:nvSpPr>
          <p:cNvPr id="28" name="Shape 26"/>
          <p:cNvSpPr/>
          <p:nvPr/>
        </p:nvSpPr>
        <p:spPr>
          <a:xfrm>
            <a:off x="5513832" y="1399032"/>
            <a:ext cx="746760" cy="649224"/>
          </a:xfrm>
          <a:prstGeom prst="rect">
            <a:avLst/>
          </a:prstGeom>
          <a:solidFill>
            <a:srgbClr val="EEF3F7"/>
          </a:solidFill>
          <a:ln w="13970">
            <a:solidFill>
              <a:srgbClr val="D7DEE3"/>
            </a:solidFill>
            <a:prstDash val="solid"/>
          </a:ln>
          <a:effectLst>
            <a:outerShdw blurRad="12700" dist="12700" dir="2700000" algn="bl" rotWithShape="0">
              <a:srgbClr val="000000">
                <a:alpha val="8000"/>
              </a:srgbClr>
            </a:outerShdw>
          </a:effectLst>
        </p:spPr>
      </p:sp>
      <p:sp>
        <p:nvSpPr>
          <p:cNvPr id="29" name="Text 27"/>
          <p:cNvSpPr/>
          <p:nvPr/>
        </p:nvSpPr>
        <p:spPr>
          <a:xfrm>
            <a:off x="5568696" y="1655064"/>
            <a:ext cx="637032" cy="1266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Services</a:t>
            </a:r>
            <a:endParaRPr lang="en-US" sz="1050" dirty="0"/>
          </a:p>
        </p:txBody>
      </p:sp>
      <p:sp>
        <p:nvSpPr>
          <p:cNvPr id="30" name="Text 28"/>
          <p:cNvSpPr/>
          <p:nvPr/>
        </p:nvSpPr>
        <p:spPr>
          <a:xfrm>
            <a:off x="6242304" y="1681381"/>
            <a:ext cx="128016" cy="11084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37C8B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&gt;</a:t>
            </a:r>
            <a:endParaRPr lang="en-US" sz="1500" dirty="0"/>
          </a:p>
        </p:txBody>
      </p:sp>
      <p:sp>
        <p:nvSpPr>
          <p:cNvPr id="31" name="Shape 29"/>
          <p:cNvSpPr/>
          <p:nvPr/>
        </p:nvSpPr>
        <p:spPr>
          <a:xfrm>
            <a:off x="6352032" y="1399032"/>
            <a:ext cx="746760" cy="649224"/>
          </a:xfrm>
          <a:prstGeom prst="rect">
            <a:avLst/>
          </a:prstGeom>
          <a:solidFill>
            <a:srgbClr val="EAF4F6"/>
          </a:solidFill>
          <a:ln w="13970">
            <a:solidFill>
              <a:srgbClr val="D7DEE3"/>
            </a:solidFill>
            <a:prstDash val="solid"/>
          </a:ln>
          <a:effectLst>
            <a:outerShdw blurRad="12700" dist="12700" dir="2700000" algn="bl" rotWithShape="0">
              <a:srgbClr val="000000">
                <a:alpha val="8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6406896" y="1655064"/>
            <a:ext cx="637032" cy="1266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Models</a:t>
            </a:r>
            <a:endParaRPr lang="en-US" sz="1050" dirty="0"/>
          </a:p>
        </p:txBody>
      </p:sp>
      <p:sp>
        <p:nvSpPr>
          <p:cNvPr id="33" name="Text 31"/>
          <p:cNvSpPr/>
          <p:nvPr/>
        </p:nvSpPr>
        <p:spPr>
          <a:xfrm>
            <a:off x="7080504" y="1681381"/>
            <a:ext cx="128016" cy="11084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37C8B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&gt;</a:t>
            </a:r>
            <a:endParaRPr lang="en-US" sz="1500" dirty="0"/>
          </a:p>
        </p:txBody>
      </p:sp>
      <p:sp>
        <p:nvSpPr>
          <p:cNvPr id="34" name="Shape 32"/>
          <p:cNvSpPr/>
          <p:nvPr/>
        </p:nvSpPr>
        <p:spPr>
          <a:xfrm>
            <a:off x="7190232" y="1399032"/>
            <a:ext cx="746760" cy="649224"/>
          </a:xfrm>
          <a:prstGeom prst="rect">
            <a:avLst/>
          </a:prstGeom>
          <a:solidFill>
            <a:srgbClr val="EEF3F7"/>
          </a:solidFill>
          <a:ln w="13970">
            <a:solidFill>
              <a:srgbClr val="D7DEE3"/>
            </a:solidFill>
            <a:prstDash val="solid"/>
          </a:ln>
          <a:effectLst>
            <a:outerShdw blurRad="12700" dist="12700" dir="2700000" algn="bl" rotWithShape="0">
              <a:srgbClr val="000000">
                <a:alpha val="8000"/>
              </a:srgbClr>
            </a:outerShdw>
          </a:effectLst>
        </p:spPr>
      </p:sp>
      <p:sp>
        <p:nvSpPr>
          <p:cNvPr id="35" name="Text 33"/>
          <p:cNvSpPr/>
          <p:nvPr/>
        </p:nvSpPr>
        <p:spPr>
          <a:xfrm>
            <a:off x="7245096" y="1655064"/>
            <a:ext cx="637032" cy="1266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SQLite</a:t>
            </a:r>
            <a:endParaRPr lang="en-US" sz="1050" dirty="0"/>
          </a:p>
        </p:txBody>
      </p:sp>
      <p:sp>
        <p:nvSpPr>
          <p:cNvPr id="36" name="Text 34"/>
          <p:cNvSpPr/>
          <p:nvPr/>
        </p:nvSpPr>
        <p:spPr>
          <a:xfrm>
            <a:off x="3022092" y="2119915"/>
            <a:ext cx="4892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2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FastAPI provides typed endpoints and automatic OpenAPI documentation.</a:t>
            </a:r>
            <a:endParaRPr lang="en-US" sz="1320" dirty="0"/>
          </a:p>
          <a:p>
            <a:pPr marL="0" indent="0">
              <a:buNone/>
            </a:pPr>
            <a:r>
              <a:rPr lang="en-US" sz="132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layered structure makes the code easier to explain, test, and extend.</a:t>
            </a:r>
            <a:endParaRPr lang="en-US" sz="1320" dirty="0"/>
          </a:p>
        </p:txBody>
      </p:sp>
      <p:sp>
        <p:nvSpPr>
          <p:cNvPr id="37" name="Shape 35"/>
          <p:cNvSpPr/>
          <p:nvPr/>
        </p:nvSpPr>
        <p:spPr>
          <a:xfrm>
            <a:off x="2788920" y="3154680"/>
            <a:ext cx="5669280" cy="996696"/>
          </a:xfrm>
          <a:prstGeom prst="rect">
            <a:avLst/>
          </a:prstGeom>
          <a:solidFill>
            <a:srgbClr val="EAF4F6"/>
          </a:solidFill>
          <a:ln w="13970">
            <a:solidFill>
              <a:srgbClr val="D7DEE3"/>
            </a:solidFill>
            <a:prstDash val="solid"/>
          </a:ln>
          <a:effectLst>
            <a:outerShdw blurRad="12700" dist="12700" dir="2700000" algn="bl" rotWithShape="0">
              <a:srgbClr val="000000">
                <a:alpha val="8000"/>
              </a:srgbClr>
            </a:outerShdw>
          </a:effectLst>
        </p:spPr>
      </p:sp>
      <p:sp>
        <p:nvSpPr>
          <p:cNvPr id="38" name="Text 36"/>
          <p:cNvSpPr/>
          <p:nvPr/>
        </p:nvSpPr>
        <p:spPr>
          <a:xfrm>
            <a:off x="2999232" y="3438144"/>
            <a:ext cx="513892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8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This structure helps in the oral exam because each layer has a clear responsibility: routers for HTTP, schemas for validation, services for derived logic, and models for persistence.</a:t>
            </a:r>
            <a:endParaRPr lang="en-US" sz="1280" dirty="0"/>
          </a:p>
        </p:txBody>
      </p:sp>
      <p:sp>
        <p:nvSpPr>
          <p:cNvPr id="39" name="Shape 37"/>
          <p:cNvSpPr/>
          <p:nvPr/>
        </p:nvSpPr>
        <p:spPr>
          <a:xfrm>
            <a:off x="502920" y="4517136"/>
            <a:ext cx="8092440" cy="0"/>
          </a:xfrm>
          <a:prstGeom prst="line">
            <a:avLst/>
          </a:prstGeom>
          <a:noFill/>
          <a:ln w="15240">
            <a:solidFill>
              <a:srgbClr val="D7DEE3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8412480" y="4709160"/>
            <a:ext cx="274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161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F7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47472"/>
            <a:ext cx="6217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8212B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Database Design and API Surface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7360920" y="329184"/>
            <a:ext cx="1143000" cy="256032"/>
          </a:xfrm>
          <a:prstGeom prst="rect">
            <a:avLst/>
          </a:prstGeom>
          <a:solidFill>
            <a:srgbClr val="137C8B"/>
          </a:solidFill>
          <a:ln w="12700">
            <a:solidFill>
              <a:srgbClr val="137C8B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7434072" y="402336"/>
            <a:ext cx="987552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RELATIONAL MODEL</a:t>
            </a:r>
            <a:endParaRPr lang="en-US" sz="950" dirty="0"/>
          </a:p>
        </p:txBody>
      </p:sp>
      <p:sp>
        <p:nvSpPr>
          <p:cNvPr id="5" name="Shape 3"/>
          <p:cNvSpPr/>
          <p:nvPr/>
        </p:nvSpPr>
        <p:spPr>
          <a:xfrm>
            <a:off x="640080" y="987551"/>
            <a:ext cx="4432041" cy="3166431"/>
          </a:xfrm>
          <a:prstGeom prst="rect">
            <a:avLst/>
          </a:prstGeom>
          <a:solidFill>
            <a:srgbClr val="FFFFFF"/>
          </a:solidFill>
          <a:ln w="13970">
            <a:solidFill>
              <a:srgbClr val="D7DEE3"/>
            </a:solidFill>
            <a:prstDash val="solid"/>
          </a:ln>
          <a:effectLst>
            <a:outerShdw blurRad="12700" dist="12700" dir="2700000" algn="bl" rotWithShape="0">
              <a:srgbClr val="000000">
                <a:alpha val="8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50392" y="1170432"/>
            <a:ext cx="17830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5161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ER view of the core SQL model</a:t>
            </a:r>
            <a:endParaRPr lang="en-US" sz="1100" dirty="0"/>
          </a:p>
        </p:txBody>
      </p:sp>
      <p:pic>
        <p:nvPicPr>
          <p:cNvPr id="7" name="Image 0" descr="C:\Users\26089\Desktop\Web Services and Web Data\cw1\.worktrees\feature-nutrition-api\slides\assets\er-diagram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726854" y="1517905"/>
            <a:ext cx="4259405" cy="2396101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419220" y="987551"/>
            <a:ext cx="3084700" cy="3166433"/>
          </a:xfrm>
          <a:prstGeom prst="rect">
            <a:avLst/>
          </a:prstGeom>
          <a:solidFill>
            <a:srgbClr val="FDFEFE"/>
          </a:solidFill>
          <a:ln w="13970">
            <a:solidFill>
              <a:srgbClr val="D7DEE3"/>
            </a:solidFill>
            <a:prstDash val="solid"/>
          </a:ln>
          <a:effectLst>
            <a:outerShdw blurRad="12700" dist="12700" dir="2700000" algn="bl" rotWithShape="0">
              <a:srgbClr val="000000">
                <a:alpha val="8000"/>
              </a:srgbClr>
            </a:outerShdw>
          </a:effectLst>
        </p:spPr>
      </p:sp>
      <p:sp>
        <p:nvSpPr>
          <p:cNvPr id="9" name="Text 6"/>
          <p:cNvSpPr/>
          <p:nvPr/>
        </p:nvSpPr>
        <p:spPr>
          <a:xfrm>
            <a:off x="5534919" y="1140947"/>
            <a:ext cx="12801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5161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Why this matters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5534919" y="1223990"/>
            <a:ext cx="2722113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3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join table stores quantity_g, so nutrition can be calculated from linked ingredient data instead of hardcoded recipe totals.</a:t>
            </a:r>
            <a:endParaRPr lang="en-US" sz="1130" dirty="0"/>
          </a:p>
        </p:txBody>
      </p:sp>
      <p:pic>
        <p:nvPicPr>
          <p:cNvPr id="11" name="Image 1" descr="C:\Users\26089\Desktop\Web Services and Web Data\cw1\.worktrees\feature-nutrition-api\slides\assets\category-analytics-chart.pn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5581012" y="1868702"/>
            <a:ext cx="2676020" cy="1210400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5534919" y="3159617"/>
            <a:ext cx="128016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40" b="1" dirty="0">
                <a:solidFill>
                  <a:srgbClr val="5161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Representative endpoints</a:t>
            </a:r>
            <a:endParaRPr lang="en-US" sz="940" dirty="0"/>
          </a:p>
        </p:txBody>
      </p:sp>
      <p:sp>
        <p:nvSpPr>
          <p:cNvPr id="13" name="Text 9"/>
          <p:cNvSpPr/>
          <p:nvPr/>
        </p:nvSpPr>
        <p:spPr>
          <a:xfrm>
            <a:off x="6199258" y="3478354"/>
            <a:ext cx="181051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70" dirty="0">
                <a:solidFill>
                  <a:srgbClr val="1821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CRUD: /recipes</a:t>
            </a:r>
            <a:endParaRPr lang="en-US" sz="870" dirty="0"/>
          </a:p>
          <a:p>
            <a:pPr marL="0" indent="0">
              <a:buNone/>
            </a:pPr>
            <a:r>
              <a:rPr lang="en-US" sz="870" dirty="0">
                <a:solidFill>
                  <a:srgbClr val="1821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CRUD: /ingredients</a:t>
            </a:r>
            <a:endParaRPr lang="en-US" sz="870" dirty="0"/>
          </a:p>
          <a:p>
            <a:pPr marL="0" indent="0">
              <a:buNone/>
            </a:pPr>
            <a:r>
              <a:rPr lang="en-US" sz="870" dirty="0">
                <a:solidFill>
                  <a:srgbClr val="1821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Search: /recipes/search</a:t>
            </a:r>
            <a:endParaRPr lang="en-US" sz="870" dirty="0"/>
          </a:p>
          <a:p>
            <a:pPr marL="0" indent="0">
              <a:buNone/>
            </a:pPr>
            <a:r>
              <a:rPr lang="en-US" sz="870" dirty="0">
                <a:solidFill>
                  <a:srgbClr val="1821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Links: /recipes/{id}/ingredients</a:t>
            </a:r>
            <a:endParaRPr lang="en-US" sz="870" dirty="0"/>
          </a:p>
        </p:txBody>
      </p:sp>
      <p:sp>
        <p:nvSpPr>
          <p:cNvPr id="14" name="Shape 10"/>
          <p:cNvSpPr/>
          <p:nvPr/>
        </p:nvSpPr>
        <p:spPr>
          <a:xfrm>
            <a:off x="502920" y="4517136"/>
            <a:ext cx="8092440" cy="0"/>
          </a:xfrm>
          <a:prstGeom prst="line">
            <a:avLst/>
          </a:prstGeom>
          <a:noFill/>
          <a:ln w="15240">
            <a:solidFill>
              <a:srgbClr val="D7DEE3"/>
            </a:solidFill>
            <a:prstDash val="solid"/>
          </a:ln>
        </p:spPr>
      </p:sp>
      <p:sp>
        <p:nvSpPr>
          <p:cNvPr id="15" name="Text 11"/>
          <p:cNvSpPr/>
          <p:nvPr/>
        </p:nvSpPr>
        <p:spPr>
          <a:xfrm>
            <a:off x="8412480" y="4709160"/>
            <a:ext cx="274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161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4F7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47472"/>
            <a:ext cx="6217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8212B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Security, Validation, and Testing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7360920" y="329184"/>
            <a:ext cx="1143000" cy="256032"/>
          </a:xfrm>
          <a:prstGeom prst="rect">
            <a:avLst/>
          </a:prstGeom>
          <a:solidFill>
            <a:srgbClr val="137C8B"/>
          </a:solidFill>
          <a:ln w="12700">
            <a:solidFill>
              <a:srgbClr val="137C8B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7434072" y="384048"/>
            <a:ext cx="987552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ENGINEERING QUALITY</a:t>
            </a:r>
            <a:endParaRPr lang="en-US" sz="950" dirty="0"/>
          </a:p>
        </p:txBody>
      </p:sp>
      <p:sp>
        <p:nvSpPr>
          <p:cNvPr id="5" name="Shape 3"/>
          <p:cNvSpPr/>
          <p:nvPr/>
        </p:nvSpPr>
        <p:spPr>
          <a:xfrm>
            <a:off x="713232" y="1097280"/>
            <a:ext cx="1572768" cy="960120"/>
          </a:xfrm>
          <a:prstGeom prst="rect">
            <a:avLst/>
          </a:prstGeom>
          <a:solidFill>
            <a:srgbClr val="DDF3E8"/>
          </a:solidFill>
          <a:ln w="13970">
            <a:solidFill>
              <a:srgbClr val="D7DEE3"/>
            </a:solidFill>
            <a:prstDash val="solid"/>
          </a:ln>
          <a:effectLst>
            <a:outerShdw blurRad="12700" dist="12700" dir="2700000" algn="bl" rotWithShape="0">
              <a:srgbClr val="000000">
                <a:alpha val="8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50392" y="1225296"/>
            <a:ext cx="129844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18212B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15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822960" y="1664208"/>
            <a:ext cx="135331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5161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automated tests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2487168" y="1097280"/>
            <a:ext cx="1572768" cy="960120"/>
          </a:xfrm>
          <a:prstGeom prst="rect">
            <a:avLst/>
          </a:prstGeom>
          <a:solidFill>
            <a:srgbClr val="D9EEF2"/>
          </a:solidFill>
          <a:ln w="13970">
            <a:solidFill>
              <a:srgbClr val="D7DEE3"/>
            </a:solidFill>
            <a:prstDash val="solid"/>
          </a:ln>
          <a:effectLst>
            <a:outerShdw blurRad="12700" dist="12700" dir="2700000" algn="bl" rotWithShape="0">
              <a:srgbClr val="000000">
                <a:alpha val="8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2624328" y="1225296"/>
            <a:ext cx="129844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18212B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401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2596896" y="1664208"/>
            <a:ext cx="135331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5161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unauthorized writes blocked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713232" y="2331720"/>
            <a:ext cx="4480560" cy="1627632"/>
          </a:xfrm>
          <a:prstGeom prst="rect">
            <a:avLst/>
          </a:prstGeom>
          <a:solidFill>
            <a:srgbClr val="FFFFFF"/>
          </a:solidFill>
          <a:ln w="13970">
            <a:solidFill>
              <a:srgbClr val="D7DEE3"/>
            </a:solidFill>
            <a:prstDash val="solid"/>
          </a:ln>
          <a:effectLst>
            <a:outerShdw blurRad="12700" dist="12700" dir="2700000" algn="bl" rotWithShape="0">
              <a:srgbClr val="000000">
                <a:alpha val="8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914400" y="2560320"/>
            <a:ext cx="16459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5161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Controls and validation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914400" y="2816352"/>
            <a:ext cx="2331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buSzPct val="100000"/>
              <a:buChar char="•"/>
            </a:pPr>
            <a:r>
              <a:rPr lang="en-US" sz="132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Write endpoints require the X-API-Key header.</a:t>
            </a:r>
            <a:endParaRPr lang="en-US" sz="1320" dirty="0"/>
          </a:p>
          <a:p>
            <a:pPr marL="342900" indent="-342900">
              <a:buSzPct val="100000"/>
              <a:buChar char="•"/>
            </a:pPr>
            <a:r>
              <a:rPr lang="en-US" sz="132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Pydantic validates payload shape and data types before business logic runs.</a:t>
            </a:r>
            <a:endParaRPr lang="en-US" sz="1320" dirty="0"/>
          </a:p>
        </p:txBody>
      </p:sp>
      <p:sp>
        <p:nvSpPr>
          <p:cNvPr id="14" name="Shape 12"/>
          <p:cNvSpPr/>
          <p:nvPr/>
        </p:nvSpPr>
        <p:spPr>
          <a:xfrm>
            <a:off x="3328416" y="2651759"/>
            <a:ext cx="1572768" cy="1080485"/>
          </a:xfrm>
          <a:prstGeom prst="rect">
            <a:avLst/>
          </a:prstGeom>
          <a:solidFill>
            <a:srgbClr val="F7E6C7"/>
          </a:solidFill>
          <a:ln w="13970">
            <a:solidFill>
              <a:srgbClr val="D7DEE3"/>
            </a:solidFill>
            <a:prstDash val="solid"/>
          </a:ln>
          <a:effectLst>
            <a:outerShdw blurRad="12700" dist="12700" dir="2700000" algn="bl" rotWithShape="0">
              <a:srgbClr val="000000">
                <a:alpha val="8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3511296" y="2779776"/>
            <a:ext cx="1188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18212B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422</a:t>
            </a:r>
            <a:endParaRPr lang="en-US" sz="2400" dirty="0"/>
          </a:p>
        </p:txBody>
      </p:sp>
      <p:sp>
        <p:nvSpPr>
          <p:cNvPr id="16" name="Text 14"/>
          <p:cNvSpPr/>
          <p:nvPr/>
        </p:nvSpPr>
        <p:spPr>
          <a:xfrm>
            <a:off x="3474720" y="3127248"/>
            <a:ext cx="12618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40" dirty="0">
                <a:solidFill>
                  <a:srgbClr val="5161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schema validation</a:t>
            </a:r>
            <a:endParaRPr lang="en-US" sz="940" dirty="0"/>
          </a:p>
          <a:p>
            <a:pPr marL="0" indent="0" algn="ctr">
              <a:buNone/>
            </a:pPr>
            <a:r>
              <a:rPr lang="en-US" sz="940" dirty="0">
                <a:solidFill>
                  <a:srgbClr val="5161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responses</a:t>
            </a:r>
            <a:endParaRPr lang="en-US" sz="940" dirty="0"/>
          </a:p>
        </p:txBody>
      </p:sp>
      <p:sp>
        <p:nvSpPr>
          <p:cNvPr id="17" name="Text 15"/>
          <p:cNvSpPr/>
          <p:nvPr/>
        </p:nvSpPr>
        <p:spPr>
          <a:xfrm>
            <a:off x="3456432" y="3456432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Rejected before service logic runs</a:t>
            </a:r>
            <a:endParaRPr lang="en-US" sz="850" dirty="0"/>
          </a:p>
        </p:txBody>
      </p:sp>
      <p:sp>
        <p:nvSpPr>
          <p:cNvPr id="18" name="Shape 16"/>
          <p:cNvSpPr/>
          <p:nvPr/>
        </p:nvSpPr>
        <p:spPr>
          <a:xfrm>
            <a:off x="5440680" y="1097280"/>
            <a:ext cx="2999232" cy="2862072"/>
          </a:xfrm>
          <a:prstGeom prst="rect">
            <a:avLst/>
          </a:prstGeom>
          <a:solidFill>
            <a:srgbClr val="132238"/>
          </a:solidFill>
          <a:ln w="13970">
            <a:solidFill>
              <a:srgbClr val="D7DEE3"/>
            </a:solidFill>
            <a:prstDash val="solid"/>
          </a:ln>
          <a:effectLst>
            <a:outerShdw blurRad="12700" dist="12700" dir="2700000" algn="bl" rotWithShape="0">
              <a:srgbClr val="000000">
                <a:alpha val="8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5650992" y="1207008"/>
            <a:ext cx="15544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D7EEF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Automated verification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5650992" y="1408176"/>
            <a:ext cx="1920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15 passed</a:t>
            </a:r>
            <a:endParaRPr lang="en-US" sz="2800" dirty="0"/>
          </a:p>
        </p:txBody>
      </p:sp>
      <p:sp>
        <p:nvSpPr>
          <p:cNvPr id="21" name="Text 19"/>
          <p:cNvSpPr/>
          <p:nvPr/>
        </p:nvSpPr>
        <p:spPr>
          <a:xfrm>
            <a:off x="5650992" y="2784349"/>
            <a:ext cx="2331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4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health | CRUD | search | analytics | nutrition | relationship removal</a:t>
            </a:r>
            <a:endParaRPr lang="en-US" sz="1140" dirty="0"/>
          </a:p>
        </p:txBody>
      </p:sp>
      <p:sp>
        <p:nvSpPr>
          <p:cNvPr id="22" name="Text 20"/>
          <p:cNvSpPr/>
          <p:nvPr/>
        </p:nvSpPr>
        <p:spPr>
          <a:xfrm>
            <a:off x="5650992" y="3364992"/>
            <a:ext cx="239572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80" dirty="0">
                <a:solidFill>
                  <a:srgbClr val="D9EEF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Tests cover CRUD, search, analytics, nutrition aggregation, and relationship removal.</a:t>
            </a:r>
            <a:endParaRPr lang="en-US" sz="1080" dirty="0"/>
          </a:p>
        </p:txBody>
      </p:sp>
      <p:sp>
        <p:nvSpPr>
          <p:cNvPr id="23" name="Shape 21"/>
          <p:cNvSpPr/>
          <p:nvPr/>
        </p:nvSpPr>
        <p:spPr>
          <a:xfrm>
            <a:off x="502920" y="4517136"/>
            <a:ext cx="8092440" cy="0"/>
          </a:xfrm>
          <a:prstGeom prst="line">
            <a:avLst/>
          </a:prstGeom>
          <a:noFill/>
          <a:ln w="15240">
            <a:solidFill>
              <a:srgbClr val="D7DEE3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8412480" y="4709160"/>
            <a:ext cx="274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161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5</a:t>
            </a:r>
            <a:endParaRPr lang="en-US" sz="900" dirty="0"/>
          </a:p>
        </p:txBody>
      </p:sp>
      <p:pic>
        <p:nvPicPr>
          <p:cNvPr id="26" name="图片 25">
            <a:extLst>
              <a:ext uri="{FF2B5EF4-FFF2-40B4-BE49-F238E27FC236}">
                <a16:creationId xmlns:a16="http://schemas.microsoft.com/office/drawing/2014/main" id="{C5880081-5B33-F739-E139-682EC821159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08047" y="1828800"/>
            <a:ext cx="2864498" cy="1021151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7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47472"/>
            <a:ext cx="6217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8212B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API Documentation Overview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7360920" y="329184"/>
            <a:ext cx="1143000" cy="256032"/>
          </a:xfrm>
          <a:prstGeom prst="rect">
            <a:avLst/>
          </a:prstGeom>
          <a:solidFill>
            <a:srgbClr val="137C8B"/>
          </a:solidFill>
          <a:ln w="12700">
            <a:solidFill>
              <a:srgbClr val="137C8B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7434072" y="402336"/>
            <a:ext cx="987552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DELIVERABLE 1</a:t>
            </a:r>
            <a:endParaRPr lang="en-US" sz="950" dirty="0"/>
          </a:p>
        </p:txBody>
      </p:sp>
      <p:sp>
        <p:nvSpPr>
          <p:cNvPr id="5" name="Shape 3"/>
          <p:cNvSpPr/>
          <p:nvPr/>
        </p:nvSpPr>
        <p:spPr>
          <a:xfrm>
            <a:off x="444520" y="987551"/>
            <a:ext cx="4950440" cy="3364245"/>
          </a:xfrm>
          <a:prstGeom prst="rect">
            <a:avLst/>
          </a:prstGeom>
          <a:solidFill>
            <a:srgbClr val="FFFFFF"/>
          </a:solidFill>
          <a:ln w="13970">
            <a:solidFill>
              <a:srgbClr val="D7DEE3"/>
            </a:solidFill>
            <a:prstDash val="solid"/>
          </a:ln>
          <a:effectLst>
            <a:outerShdw blurRad="12700" dist="12700" dir="2700000" algn="bl" rotWithShape="0">
              <a:srgbClr val="000000">
                <a:alpha val="8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26012" y="1063222"/>
            <a:ext cx="1959151" cy="17202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5161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Swagger UI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5467324" y="987551"/>
            <a:ext cx="2981732" cy="3364245"/>
          </a:xfrm>
          <a:prstGeom prst="rect">
            <a:avLst/>
          </a:prstGeom>
          <a:solidFill>
            <a:srgbClr val="EAF4F6"/>
          </a:solidFill>
          <a:ln w="13970">
            <a:solidFill>
              <a:srgbClr val="D7DEE3"/>
            </a:solidFill>
            <a:prstDash val="solid"/>
          </a:ln>
          <a:effectLst>
            <a:outerShdw blurRad="12700" dist="12700" dir="2700000" algn="bl" rotWithShape="0">
              <a:srgbClr val="000000">
                <a:alpha val="8000"/>
              </a:srgbClr>
            </a:outerShdw>
          </a:effectLst>
        </p:spPr>
      </p:sp>
      <p:sp>
        <p:nvSpPr>
          <p:cNvPr id="9" name="Text 6"/>
          <p:cNvSpPr/>
          <p:nvPr/>
        </p:nvSpPr>
        <p:spPr>
          <a:xfrm>
            <a:off x="5549623" y="1115567"/>
            <a:ext cx="1720230" cy="17202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5161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Response evidence and pack</a:t>
            </a:r>
            <a:endParaRPr lang="en-US" sz="1100" dirty="0"/>
          </a:p>
        </p:txBody>
      </p:sp>
      <p:pic>
        <p:nvPicPr>
          <p:cNvPr id="10" name="Image 1" descr="C:\Users\26089\Desktop\Web Services and Web Data\cw1\.worktrees\feature-nutrition-api\slides\assets\api-response-examples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5493235" y="1419994"/>
            <a:ext cx="2911740" cy="2303511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5741274" y="3898316"/>
            <a:ext cx="2427438" cy="3058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40" dirty="0">
                <a:solidFill>
                  <a:srgbClr val="5161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API documentation was also exported into a separate PDF deliverable.</a:t>
            </a:r>
            <a:endParaRPr lang="en-US" sz="940" dirty="0"/>
          </a:p>
        </p:txBody>
      </p:sp>
      <p:sp>
        <p:nvSpPr>
          <p:cNvPr id="13" name="Shape 9"/>
          <p:cNvSpPr/>
          <p:nvPr/>
        </p:nvSpPr>
        <p:spPr>
          <a:xfrm>
            <a:off x="502920" y="4517136"/>
            <a:ext cx="8092440" cy="0"/>
          </a:xfrm>
          <a:prstGeom prst="line">
            <a:avLst/>
          </a:prstGeom>
          <a:noFill/>
          <a:ln w="15240">
            <a:solidFill>
              <a:srgbClr val="D7DEE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8412480" y="4709160"/>
            <a:ext cx="274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161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6</a:t>
            </a:r>
            <a:endParaRPr lang="en-US" sz="900" dirty="0"/>
          </a:p>
        </p:txBody>
      </p:sp>
      <p:pic>
        <p:nvPicPr>
          <p:cNvPr id="16" name="图片 15">
            <a:extLst>
              <a:ext uri="{FF2B5EF4-FFF2-40B4-BE49-F238E27FC236}">
                <a16:creationId xmlns:a16="http://schemas.microsoft.com/office/drawing/2014/main" id="{EA12B382-08F9-29C0-686E-FE06E161AFE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2795" y="1262999"/>
            <a:ext cx="4797966" cy="2995492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4F7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47472"/>
            <a:ext cx="6217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8212B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Version Control and Deliverables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7360920" y="329184"/>
            <a:ext cx="1143000" cy="256032"/>
          </a:xfrm>
          <a:prstGeom prst="rect">
            <a:avLst/>
          </a:prstGeom>
          <a:solidFill>
            <a:srgbClr val="137C8B"/>
          </a:solidFill>
          <a:ln w="12700">
            <a:solidFill>
              <a:srgbClr val="137C8B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7434072" y="384048"/>
            <a:ext cx="987552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DELIVERABLES</a:t>
            </a:r>
            <a:endParaRPr lang="en-US" sz="950" dirty="0"/>
          </a:p>
        </p:txBody>
      </p:sp>
      <p:sp>
        <p:nvSpPr>
          <p:cNvPr id="5" name="Shape 3"/>
          <p:cNvSpPr/>
          <p:nvPr/>
        </p:nvSpPr>
        <p:spPr>
          <a:xfrm>
            <a:off x="658368" y="987552"/>
            <a:ext cx="3931920" cy="2944368"/>
          </a:xfrm>
          <a:prstGeom prst="rect">
            <a:avLst/>
          </a:prstGeom>
          <a:solidFill>
            <a:srgbClr val="FFFFFF"/>
          </a:solidFill>
          <a:ln w="13970">
            <a:solidFill>
              <a:srgbClr val="D7DEE3"/>
            </a:solidFill>
            <a:prstDash val="solid"/>
          </a:ln>
          <a:effectLst>
            <a:outerShdw blurRad="12700" dist="12700" dir="2700000" algn="bl" rotWithShape="0">
              <a:srgbClr val="000000">
                <a:alpha val="8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96112" y="1207008"/>
            <a:ext cx="15544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5161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Commit history evidence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800600" y="987552"/>
            <a:ext cx="3639312" cy="2944368"/>
          </a:xfrm>
          <a:prstGeom prst="rect">
            <a:avLst/>
          </a:prstGeom>
          <a:solidFill>
            <a:srgbClr val="FFFFFF"/>
          </a:solidFill>
          <a:ln w="13970">
            <a:solidFill>
              <a:srgbClr val="D7DEE3"/>
            </a:solidFill>
            <a:prstDash val="solid"/>
          </a:ln>
          <a:effectLst>
            <a:outerShdw blurRad="12700" dist="12700" dir="2700000" algn="bl" rotWithShape="0">
              <a:srgbClr val="000000">
                <a:alpha val="8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5029200" y="1188720"/>
            <a:ext cx="14630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5161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Submission deliverables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5029200" y="1490472"/>
            <a:ext cx="1508760" cy="841248"/>
          </a:xfrm>
          <a:prstGeom prst="rect">
            <a:avLst/>
          </a:prstGeom>
          <a:solidFill>
            <a:srgbClr val="D9EEF2"/>
          </a:solidFill>
          <a:ln w="13970">
            <a:solidFill>
              <a:srgbClr val="D7DEE3"/>
            </a:solidFill>
            <a:prstDash val="solid"/>
          </a:ln>
          <a:effectLst>
            <a:outerShdw blurRad="12700" dist="12700" dir="2700000" algn="bl" rotWithShape="0">
              <a:srgbClr val="000000">
                <a:alpha val="8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5138928" y="1627632"/>
            <a:ext cx="12618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20" b="1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Public GitHub repository with visible commit history</a:t>
            </a:r>
            <a:endParaRPr lang="en-US" sz="1020" dirty="0"/>
          </a:p>
        </p:txBody>
      </p:sp>
      <p:sp>
        <p:nvSpPr>
          <p:cNvPr id="20" name="Shape 18"/>
          <p:cNvSpPr/>
          <p:nvPr/>
        </p:nvSpPr>
        <p:spPr>
          <a:xfrm>
            <a:off x="6766560" y="1490472"/>
            <a:ext cx="1508760" cy="841248"/>
          </a:xfrm>
          <a:prstGeom prst="rect">
            <a:avLst/>
          </a:prstGeom>
          <a:solidFill>
            <a:srgbClr val="DDF3E8"/>
          </a:solidFill>
          <a:ln w="13970">
            <a:solidFill>
              <a:srgbClr val="D7DEE3"/>
            </a:solidFill>
            <a:prstDash val="solid"/>
          </a:ln>
          <a:effectLst>
            <a:outerShdw blurRad="12700" dist="12700" dir="2700000" algn="bl" rotWithShape="0">
              <a:srgbClr val="000000">
                <a:alpha val="8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6876288" y="1627632"/>
            <a:ext cx="12618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20" b="1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README with setup, run, seed, and test instructions</a:t>
            </a:r>
            <a:endParaRPr lang="en-US" sz="1020" dirty="0"/>
          </a:p>
        </p:txBody>
      </p:sp>
      <p:sp>
        <p:nvSpPr>
          <p:cNvPr id="22" name="Shape 20"/>
          <p:cNvSpPr/>
          <p:nvPr/>
        </p:nvSpPr>
        <p:spPr>
          <a:xfrm>
            <a:off x="5029200" y="2496312"/>
            <a:ext cx="1508760" cy="841248"/>
          </a:xfrm>
          <a:prstGeom prst="rect">
            <a:avLst/>
          </a:prstGeom>
          <a:solidFill>
            <a:srgbClr val="F7E6C7"/>
          </a:solidFill>
          <a:ln w="13970">
            <a:solidFill>
              <a:srgbClr val="D7DEE3"/>
            </a:solidFill>
            <a:prstDash val="solid"/>
          </a:ln>
          <a:effectLst>
            <a:outerShdw blurRad="12700" dist="12700" dir="2700000" algn="bl" rotWithShape="0">
              <a:srgbClr val="000000">
                <a:alpha val="8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138928" y="2633472"/>
            <a:ext cx="12618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20" b="1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API documentation PDF, technical report PDF, and presentation deck</a:t>
            </a:r>
            <a:endParaRPr lang="en-US" sz="1020" dirty="0"/>
          </a:p>
        </p:txBody>
      </p:sp>
      <p:sp>
        <p:nvSpPr>
          <p:cNvPr id="24" name="Shape 22"/>
          <p:cNvSpPr/>
          <p:nvPr/>
        </p:nvSpPr>
        <p:spPr>
          <a:xfrm>
            <a:off x="502920" y="4517136"/>
            <a:ext cx="8092440" cy="0"/>
          </a:xfrm>
          <a:prstGeom prst="line">
            <a:avLst/>
          </a:prstGeom>
          <a:noFill/>
          <a:ln w="15240">
            <a:solidFill>
              <a:srgbClr val="D7DEE3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8412480" y="4709160"/>
            <a:ext cx="274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161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7</a:t>
            </a:r>
            <a:endParaRPr lang="en-US" sz="900" dirty="0"/>
          </a:p>
        </p:txBody>
      </p:sp>
      <p:pic>
        <p:nvPicPr>
          <p:cNvPr id="27" name="图片 26">
            <a:extLst>
              <a:ext uri="{FF2B5EF4-FFF2-40B4-BE49-F238E27FC236}">
                <a16:creationId xmlns:a16="http://schemas.microsoft.com/office/drawing/2014/main" id="{2569B7EB-2B60-0DC5-4742-9B961EBE174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5528" y="1490472"/>
            <a:ext cx="3657600" cy="2245597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7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47472"/>
            <a:ext cx="6217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8212B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Demo Flow and Technical Report Highlights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7360920" y="329184"/>
            <a:ext cx="1143000" cy="256032"/>
          </a:xfrm>
          <a:prstGeom prst="rect">
            <a:avLst/>
          </a:prstGeom>
          <a:solidFill>
            <a:srgbClr val="137C8B"/>
          </a:solidFill>
          <a:ln w="12700">
            <a:solidFill>
              <a:srgbClr val="137C8B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7434072" y="402336"/>
            <a:ext cx="987552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ORAL EXAM FLOW</a:t>
            </a:r>
            <a:endParaRPr lang="en-US" sz="950" dirty="0"/>
          </a:p>
        </p:txBody>
      </p:sp>
      <p:sp>
        <p:nvSpPr>
          <p:cNvPr id="5" name="Shape 3"/>
          <p:cNvSpPr/>
          <p:nvPr/>
        </p:nvSpPr>
        <p:spPr>
          <a:xfrm>
            <a:off x="640080" y="987552"/>
            <a:ext cx="3794760" cy="2907792"/>
          </a:xfrm>
          <a:prstGeom prst="rect">
            <a:avLst/>
          </a:prstGeom>
          <a:solidFill>
            <a:srgbClr val="FFFFFF"/>
          </a:solidFill>
          <a:ln w="13970">
            <a:solidFill>
              <a:srgbClr val="D7DEE3"/>
            </a:solidFill>
            <a:prstDash val="solid"/>
          </a:ln>
          <a:effectLst>
            <a:outerShdw blurRad="12700" dist="12700" dir="2700000" algn="bl" rotWithShape="0">
              <a:srgbClr val="000000">
                <a:alpha val="8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68680" y="1207008"/>
            <a:ext cx="1371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5161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Live presentation path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896112" y="1554480"/>
            <a:ext cx="256032" cy="256032"/>
          </a:xfrm>
          <a:prstGeom prst="ellipse">
            <a:avLst/>
          </a:prstGeom>
          <a:solidFill>
            <a:srgbClr val="137C8B"/>
          </a:solidFill>
          <a:ln w="12700">
            <a:solidFill>
              <a:srgbClr val="137C8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23544" y="1591056"/>
            <a:ext cx="201168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1280160" y="1545336"/>
            <a:ext cx="3063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4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Open GitHub repository and README</a:t>
            </a:r>
            <a:endParaRPr lang="en-US" sz="1140" dirty="0"/>
          </a:p>
        </p:txBody>
      </p:sp>
      <p:sp>
        <p:nvSpPr>
          <p:cNvPr id="10" name="Shape 8"/>
          <p:cNvSpPr/>
          <p:nvPr/>
        </p:nvSpPr>
        <p:spPr>
          <a:xfrm>
            <a:off x="896112" y="2167128"/>
            <a:ext cx="256032" cy="256032"/>
          </a:xfrm>
          <a:prstGeom prst="ellipse">
            <a:avLst/>
          </a:prstGeom>
          <a:solidFill>
            <a:srgbClr val="137C8B"/>
          </a:solidFill>
          <a:ln w="12700">
            <a:solidFill>
              <a:srgbClr val="137C8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23544" y="2203704"/>
            <a:ext cx="201168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1280160" y="2157984"/>
            <a:ext cx="3063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4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Show commit history and project deliverables</a:t>
            </a:r>
            <a:endParaRPr lang="en-US" sz="1140" dirty="0"/>
          </a:p>
        </p:txBody>
      </p:sp>
      <p:sp>
        <p:nvSpPr>
          <p:cNvPr id="13" name="Shape 11"/>
          <p:cNvSpPr/>
          <p:nvPr/>
        </p:nvSpPr>
        <p:spPr>
          <a:xfrm>
            <a:off x="896112" y="2779776"/>
            <a:ext cx="256032" cy="256032"/>
          </a:xfrm>
          <a:prstGeom prst="ellipse">
            <a:avLst/>
          </a:prstGeom>
          <a:solidFill>
            <a:srgbClr val="137C8B"/>
          </a:solidFill>
          <a:ln w="12700">
            <a:solidFill>
              <a:srgbClr val="137C8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23544" y="2816352"/>
            <a:ext cx="201168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1280160" y="2770632"/>
            <a:ext cx="3063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4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Open Swagger /docs</a:t>
            </a:r>
            <a:endParaRPr lang="en-US" sz="1140" dirty="0"/>
          </a:p>
        </p:txBody>
      </p:sp>
      <p:sp>
        <p:nvSpPr>
          <p:cNvPr id="16" name="Shape 14"/>
          <p:cNvSpPr/>
          <p:nvPr/>
        </p:nvSpPr>
        <p:spPr>
          <a:xfrm>
            <a:off x="896112" y="3392424"/>
            <a:ext cx="256032" cy="256032"/>
          </a:xfrm>
          <a:prstGeom prst="ellipse">
            <a:avLst/>
          </a:prstGeom>
          <a:solidFill>
            <a:srgbClr val="137C8B"/>
          </a:solidFill>
          <a:ln w="12700">
            <a:solidFill>
              <a:srgbClr val="137C8B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23544" y="3429000"/>
            <a:ext cx="201168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1280160" y="3383280"/>
            <a:ext cx="3063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4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Create recipe, link ingredients, show nutrition and category analytics</a:t>
            </a:r>
            <a:endParaRPr lang="en-US" sz="1140" dirty="0"/>
          </a:p>
        </p:txBody>
      </p:sp>
      <p:sp>
        <p:nvSpPr>
          <p:cNvPr id="19" name="Shape 17"/>
          <p:cNvSpPr/>
          <p:nvPr/>
        </p:nvSpPr>
        <p:spPr>
          <a:xfrm>
            <a:off x="4645152" y="987552"/>
            <a:ext cx="3794760" cy="2907792"/>
          </a:xfrm>
          <a:prstGeom prst="rect">
            <a:avLst/>
          </a:prstGeom>
          <a:solidFill>
            <a:srgbClr val="EAF4F6"/>
          </a:solidFill>
          <a:ln w="13970">
            <a:solidFill>
              <a:srgbClr val="D7DEE3"/>
            </a:solidFill>
            <a:prstDash val="solid"/>
          </a:ln>
          <a:effectLst>
            <a:outerShdw blurRad="12700" dist="12700" dir="2700000" algn="bl" rotWithShape="0">
              <a:srgbClr val="000000">
                <a:alpha val="8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892040" y="1207008"/>
            <a:ext cx="15544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5161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Technical report highlights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4882896" y="1554480"/>
            <a:ext cx="29718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buSzPct val="100000"/>
              <a:buChar char="•"/>
            </a:pPr>
            <a:r>
              <a:rPr lang="en-US" sz="134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Rationale for choosing FastAPI, SQLite, and a layered design</a:t>
            </a:r>
            <a:endParaRPr lang="en-US" sz="1340" dirty="0"/>
          </a:p>
          <a:p>
            <a:pPr marL="342900" indent="-342900">
              <a:buSzPct val="100000"/>
              <a:buChar char="•"/>
            </a:pPr>
            <a:r>
              <a:rPr lang="en-US" sz="134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Testing approach, route-conflict lesson, limitations, and future work</a:t>
            </a:r>
            <a:endParaRPr lang="en-US" sz="1340" dirty="0"/>
          </a:p>
          <a:p>
            <a:pPr marL="342900" indent="-342900">
              <a:buSzPct val="100000"/>
              <a:buChar char="•"/>
            </a:pPr>
            <a:r>
              <a:rPr lang="en-US" sz="134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GenAI declaration included transparently in the report</a:t>
            </a:r>
            <a:endParaRPr lang="en-US" sz="1340" dirty="0"/>
          </a:p>
        </p:txBody>
      </p:sp>
      <p:sp>
        <p:nvSpPr>
          <p:cNvPr id="22" name="Shape 20"/>
          <p:cNvSpPr/>
          <p:nvPr/>
        </p:nvSpPr>
        <p:spPr>
          <a:xfrm>
            <a:off x="4892040" y="3200400"/>
            <a:ext cx="3063240" cy="530352"/>
          </a:xfrm>
          <a:prstGeom prst="rect">
            <a:avLst/>
          </a:prstGeom>
          <a:solidFill>
            <a:srgbClr val="FFFFFF"/>
          </a:solidFill>
          <a:ln w="13970">
            <a:solidFill>
              <a:srgbClr val="D7DEE3"/>
            </a:solidFill>
            <a:prstDash val="solid"/>
          </a:ln>
          <a:effectLst>
            <a:outerShdw blurRad="12700" dist="12700" dir="2700000" algn="bl" rotWithShape="0">
              <a:srgbClr val="000000">
                <a:alpha val="8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084064" y="3364992"/>
            <a:ext cx="26974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8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This gives examiners a clean path from repository evidence to working endpoints and supporting documents.</a:t>
            </a:r>
            <a:endParaRPr lang="en-US" sz="1080" dirty="0"/>
          </a:p>
        </p:txBody>
      </p:sp>
      <p:sp>
        <p:nvSpPr>
          <p:cNvPr id="24" name="Shape 22"/>
          <p:cNvSpPr/>
          <p:nvPr/>
        </p:nvSpPr>
        <p:spPr>
          <a:xfrm>
            <a:off x="502920" y="4517136"/>
            <a:ext cx="8092440" cy="0"/>
          </a:xfrm>
          <a:prstGeom prst="line">
            <a:avLst/>
          </a:prstGeom>
          <a:noFill/>
          <a:ln w="15240">
            <a:solidFill>
              <a:srgbClr val="D7DEE3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8412480" y="4709160"/>
            <a:ext cx="274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161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3223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38912"/>
            <a:ext cx="5303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Technical Report Highlights and Q&amp;A Readiness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658368" y="1051560"/>
            <a:ext cx="3931920" cy="2377440"/>
          </a:xfrm>
          <a:prstGeom prst="rect">
            <a:avLst/>
          </a:prstGeom>
          <a:solidFill>
            <a:srgbClr val="FFFFFF">
              <a:alpha val="95000"/>
            </a:srgbClr>
          </a:solidFill>
          <a:ln w="12700">
            <a:solidFill>
              <a:srgbClr val="D8E8E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877824" y="1298448"/>
            <a:ext cx="10972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37C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Key outcome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877824" y="1627632"/>
            <a:ext cx="33832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2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project satisfies the coursework brief with a runnable SQL-backed API, visible version history, documentation, testing evidence, and a defensible architecture.</a:t>
            </a:r>
            <a:endParaRPr lang="en-US" sz="1520" dirty="0"/>
          </a:p>
        </p:txBody>
      </p:sp>
      <p:sp>
        <p:nvSpPr>
          <p:cNvPr id="6" name="Text 4"/>
          <p:cNvSpPr/>
          <p:nvPr/>
        </p:nvSpPr>
        <p:spPr>
          <a:xfrm>
            <a:off x="4956048" y="1298448"/>
            <a:ext cx="10058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D6EEF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Future work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956048" y="1627632"/>
            <a:ext cx="28346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32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Upgrade from API key auth to JWT-based authentication</a:t>
            </a:r>
            <a:endParaRPr lang="en-US" sz="1320" dirty="0"/>
          </a:p>
          <a:p>
            <a:pPr marL="342900" indent="-342900">
              <a:buSzPct val="100000"/>
              <a:buChar char="•"/>
            </a:pPr>
            <a:r>
              <a:rPr lang="en-US" sz="132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Expand analytics and richer recipe filtering</a:t>
            </a:r>
            <a:endParaRPr lang="en-US" sz="1320" dirty="0"/>
          </a:p>
          <a:p>
            <a:pPr marL="342900" indent="-342900">
              <a:buSzPct val="100000"/>
              <a:buChar char="•"/>
            </a:pPr>
            <a:r>
              <a:rPr lang="en-US" sz="132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Move from SQLite to PostgreSQL for a stronger deployment story</a:t>
            </a:r>
            <a:endParaRPr lang="en-US" sz="1320" dirty="0"/>
          </a:p>
        </p:txBody>
      </p:sp>
      <p:sp>
        <p:nvSpPr>
          <p:cNvPr id="8" name="Shape 6"/>
          <p:cNvSpPr/>
          <p:nvPr/>
        </p:nvSpPr>
        <p:spPr>
          <a:xfrm>
            <a:off x="4736592" y="3127248"/>
            <a:ext cx="3703320" cy="841248"/>
          </a:xfrm>
          <a:prstGeom prst="rect">
            <a:avLst/>
          </a:prstGeom>
          <a:solidFill>
            <a:srgbClr val="137C8B">
              <a:alpha val="92000"/>
            </a:srgbClr>
          </a:solidFill>
          <a:ln w="12700">
            <a:solidFill>
              <a:srgbClr val="137C8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983480" y="3255264"/>
            <a:ext cx="12344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D6EEF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GenAI declaration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4983480" y="3502152"/>
            <a:ext cx="3063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6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GenAI was used for planning, debugging support, and documentation drafting, with final technical decisions kept under student control.</a:t>
            </a:r>
            <a:endParaRPr lang="en-US" sz="1060" dirty="0"/>
          </a:p>
        </p:txBody>
      </p:sp>
      <p:sp>
        <p:nvSpPr>
          <p:cNvPr id="11" name="Text 9"/>
          <p:cNvSpPr/>
          <p:nvPr/>
        </p:nvSpPr>
        <p:spPr>
          <a:xfrm>
            <a:off x="685800" y="4187952"/>
            <a:ext cx="7315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CFE7E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Q&amp;A ready: architecture choices, testing evidence, route design, and submission deliverables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8412480" y="4709160"/>
            <a:ext cx="274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161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609</Words>
  <Application>Microsoft Office PowerPoint</Application>
  <PresentationFormat>全屏显示(16:9)</PresentationFormat>
  <Paragraphs>122</Paragraphs>
  <Slides>9</Slides>
  <Notes>9</Notes>
  <HiddenSlides>0</HiddenSlides>
  <MMClips>0</MMClips>
  <ScaleCrop>false</ScaleCrop>
  <HeadingPairs>
    <vt:vector size="6" baseType="variant">
      <vt:variant>
        <vt:lpstr>已用的字体</vt:lpstr>
      </vt:variant>
      <vt:variant>
        <vt:i4>4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9</vt:i4>
      </vt:variant>
    </vt:vector>
  </HeadingPairs>
  <TitlesOfParts>
    <vt:vector size="14" baseType="lpstr">
      <vt:lpstr>Aptos</vt:lpstr>
      <vt:lpstr>Aptos Display</vt:lpstr>
      <vt:lpstr>Arial</vt:lpstr>
      <vt:lpstr>Consolas</vt:lpstr>
      <vt:lpstr>Office Theme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Company>University Coursework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Nutrition and Recipe Analytics API</dc:title>
  <dc:subject>XJCO3011 Oral Presentation</dc:subject>
  <dc:creator>Shuyu Cao</dc:creator>
  <cp:lastModifiedBy>书毓 曹</cp:lastModifiedBy>
  <cp:revision>22</cp:revision>
  <dcterms:created xsi:type="dcterms:W3CDTF">2026-04-21T02:19:42Z</dcterms:created>
  <dcterms:modified xsi:type="dcterms:W3CDTF">2026-04-21T05:07:22Z</dcterms:modified>
</cp:coreProperties>
</file>