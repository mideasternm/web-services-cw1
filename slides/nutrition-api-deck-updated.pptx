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078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B">
              <a:alpha val="90000"/>
            </a:srgbClr>
          </a:solidFill>
          <a:ln w="12700">
            <a:solidFill>
              <a:srgbClr val="0F1B2B">
                <a:alpha val="0"/>
              </a:srgbClr>
            </a:solidFill>
            <a:prstDash val="solid"/>
          </a:ln>
        </p:spPr>
      </p:sp>
      <p:pic>
        <p:nvPicPr>
          <p:cNvPr id="3" name="Image 0" descr="C:\Users\26089\Desktop\Web Services and Web Data\cw1\.worktrees\feature-nutrition-api\slides\assets\hero-cov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47091" y="411480"/>
            <a:ext cx="3648269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47091" y="411480"/>
            <a:ext cx="3739709" cy="4023360"/>
          </a:xfrm>
          <a:prstGeom prst="rect">
            <a:avLst/>
          </a:prstGeom>
          <a:solidFill>
            <a:srgbClr val="132238">
              <a:alpha val="6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804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XJCO3011 Web Services and Web Data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33502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Nutrition and Recipe Analytics API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" y="235915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SQLite coursework project with CRUD, derived nutrition analytics, automated testing, and submission-ready deliverables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3675888"/>
            <a:ext cx="3035808" cy="585216"/>
          </a:xfrm>
          <a:prstGeom prst="rect">
            <a:avLst/>
          </a:prstGeom>
          <a:solidFill>
            <a:srgbClr val="1E3849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877056"/>
            <a:ext cx="2697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Shuyu Cao  |  5-minute oral presentation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Is More Than Basic CRUD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SCOPE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recipe API is a good coursework domain because it needs both transactions and calculation.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178308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Recipes and ingredients form a real many-to-many relational model.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Nutrition totals are derived from linked ingredient quantities rather than typed in manually.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can demonstrate CRUD, validation, authentication, and analytics in one coherent system.</a:t>
            </a:r>
            <a:endParaRPr lang="en-US" sz="1550" dirty="0"/>
          </a:p>
        </p:txBody>
      </p:sp>
      <p:pic>
        <p:nvPicPr>
          <p:cNvPr id="7" name="Image 0" descr="C:\Users\26089\Desktop\Web Services and Web Data\cw1\.worktrees\feature-nutrition-api\slides\assets\problem-visu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2040" y="960120"/>
            <a:ext cx="3547872" cy="2907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0640" y="12344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data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74920" y="14813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recipes + ingredients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16752" y="1828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82512" y="18836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storage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50608" y="1828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16368" y="188366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output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and Technology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969264"/>
            <a:ext cx="1920240" cy="3182112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1704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481328"/>
            <a:ext cx="1481328" cy="310896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572768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822960" y="1956816"/>
            <a:ext cx="1481328" cy="310896"/>
          </a:xfrm>
          <a:prstGeom prst="rect">
            <a:avLst/>
          </a:prstGeom>
          <a:solidFill>
            <a:srgbClr val="F0F4F7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048256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822960" y="2432304"/>
            <a:ext cx="1481328" cy="310896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2523744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822960" y="2907792"/>
            <a:ext cx="1481328" cy="310896"/>
          </a:xfrm>
          <a:prstGeom prst="rect">
            <a:avLst/>
          </a:prstGeom>
          <a:solidFill>
            <a:srgbClr val="F0F4F7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299923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1481328" cy="310896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3474720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788920" y="969264"/>
            <a:ext cx="5669280" cy="1965960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99232" y="11704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99232" y="1536192"/>
            <a:ext cx="746760" cy="749808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540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27704" y="174650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837432" y="1536192"/>
            <a:ext cx="746760" cy="749808"/>
          </a:xfrm>
          <a:prstGeom prst="rect">
            <a:avLst/>
          </a:prstGeom>
          <a:solidFill>
            <a:srgbClr val="EEF3F7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922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65904" y="174650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75632" y="1536192"/>
            <a:ext cx="746760" cy="749808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04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04104" y="174650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513832" y="1536192"/>
            <a:ext cx="746760" cy="749808"/>
          </a:xfrm>
          <a:prstGeom prst="rect">
            <a:avLst/>
          </a:prstGeom>
          <a:solidFill>
            <a:srgbClr val="EEF3F7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686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42304" y="174650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52032" y="1536192"/>
            <a:ext cx="746760" cy="749808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68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80504" y="174650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7C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190232" y="1536192"/>
            <a:ext cx="746760" cy="749808"/>
          </a:xfrm>
          <a:prstGeom prst="rect">
            <a:avLst/>
          </a:prstGeom>
          <a:solidFill>
            <a:srgbClr val="EEF3F7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45096" y="1792224"/>
            <a:ext cx="637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99232" y="24505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provides typed endpoints and automatic OpenAPI documentation.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layered structure makes the code easier to explain, test, and extend.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2788920" y="3154680"/>
            <a:ext cx="5669280" cy="996696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999232" y="3438144"/>
            <a:ext cx="5138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helps in the oral exam because each layer has a clear responsibility: routers for HTTP, schemas for validation, services for derived logic, and models for persistence.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 and API Surface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MODEL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5349240" cy="2852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1704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 view of the core SQL model</a:t>
            </a:r>
            <a:endParaRPr lang="en-US" sz="1100" dirty="0"/>
          </a:p>
        </p:txBody>
      </p:sp>
      <p:pic>
        <p:nvPicPr>
          <p:cNvPr id="7" name="Image 0" descr="C:\Users\26089\Desktop\Web Services and Web Data\cw1\.worktrees\feature-nutrition-api\slides\assets\er-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9536" y="1463040"/>
            <a:ext cx="4892040" cy="2103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36208" y="987552"/>
            <a:ext cx="2267712" cy="2852928"/>
          </a:xfrm>
          <a:prstGeom prst="rect">
            <a:avLst/>
          </a:prstGeom>
          <a:solidFill>
            <a:srgbClr val="FDFEFE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1704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6520" y="1444752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join table stores quantity_g, so nutrition can be calculated from linked ingredient data instead of hardcoded recipe totals.</a:t>
            </a:r>
            <a:endParaRPr lang="en-US" sz="1130" dirty="0"/>
          </a:p>
        </p:txBody>
      </p:sp>
      <p:pic>
        <p:nvPicPr>
          <p:cNvPr id="11" name="Image 1" descr="C:\Users\26089\Desktop\Web Services and Web Data\cw1\.worktrees\feature-nutrition-api\slides\assets\category-analytics-char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19088" y="2240280"/>
            <a:ext cx="1883664" cy="10789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340156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endpoints</a:t>
            </a:r>
            <a:endParaRPr lang="en-US" sz="940" dirty="0"/>
          </a:p>
        </p:txBody>
      </p:sp>
      <p:sp>
        <p:nvSpPr>
          <p:cNvPr id="13" name="Text 9"/>
          <p:cNvSpPr/>
          <p:nvPr/>
        </p:nvSpPr>
        <p:spPr>
          <a:xfrm>
            <a:off x="6446520" y="358444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CRUD: /recipes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CRUD: /ingredients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Search: /recipes/search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Links: /recipes/{id}/ingredients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Validation, and Testing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QUALITY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1572768" cy="960120"/>
          </a:xfrm>
          <a:prstGeom prst="rect">
            <a:avLst/>
          </a:prstGeom>
          <a:solidFill>
            <a:srgbClr val="DDF3E8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22529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87168" y="1097280"/>
            <a:ext cx="1572768" cy="960120"/>
          </a:xfrm>
          <a:prstGeom prst="rect">
            <a:avLst/>
          </a:prstGeom>
          <a:solidFill>
            <a:srgbClr val="D9EEF2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122529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96896" y="166420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unauthorized writes blocked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2331720"/>
            <a:ext cx="4480560" cy="1627632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560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and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81635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endpoints require the X-API-Key header.</a:t>
            </a:r>
            <a:endParaRPr lang="en-US" sz="1320" dirty="0"/>
          </a:p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payload shape and data types before business logic runs.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3328416" y="2651760"/>
            <a:ext cx="1572768" cy="950976"/>
          </a:xfrm>
          <a:prstGeom prst="rect">
            <a:avLst/>
          </a:prstGeom>
          <a:solidFill>
            <a:srgbClr val="F7E6C7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11296" y="2779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31272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validation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3456432" y="345643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before service logic runs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40680" y="1097280"/>
            <a:ext cx="2999232" cy="2862072"/>
          </a:xfrm>
          <a:prstGeom prst="rect">
            <a:avLst/>
          </a:prstGeom>
          <a:solidFill>
            <a:srgbClr val="132238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50992" y="135331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verification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50992" y="1755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passed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650992" y="22677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| CRUD | search | analytics | nutrition | relationship removal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650992" y="299923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9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cover CRUD, search, analytics, nutrition aggregation, and relationship removal.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Documentation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402336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 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44520" y="987551"/>
            <a:ext cx="4950440" cy="3058187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6012" y="1063222"/>
            <a:ext cx="1959151" cy="172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 UI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67324" y="987551"/>
            <a:ext cx="2981732" cy="3058187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41274" y="1134787"/>
            <a:ext cx="1720230" cy="172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evidence and pack</a:t>
            </a:r>
            <a:endParaRPr lang="en-US" sz="1100" dirty="0"/>
          </a:p>
        </p:txBody>
      </p:sp>
      <p:pic>
        <p:nvPicPr>
          <p:cNvPr id="10" name="Image 1" descr="C:\Users\26089\Desktop\Web Services and Web Data\cw1\.worktrees\feature-nutrition-api\slides\assets\api-response-examp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0740" y="1429465"/>
            <a:ext cx="2911740" cy="22434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21680" y="3706402"/>
            <a:ext cx="2427438" cy="30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documentation was also exported into a separate PDF deliverable.</a:t>
            </a:r>
            <a:endParaRPr lang="en-US" sz="940" dirty="0"/>
          </a:p>
        </p:txBody>
      </p:sp>
      <p:sp>
        <p:nvSpPr>
          <p:cNvPr id="13" name="Shape 9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A12B382-08F9-29C0-686E-FE06E161A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95" y="1263000"/>
            <a:ext cx="4797966" cy="261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Control and Deliverables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987552"/>
            <a:ext cx="3931920" cy="2944368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207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history evidence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987552"/>
            <a:ext cx="3639312" cy="2944368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1887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deliverables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490472"/>
            <a:ext cx="1508760" cy="841248"/>
          </a:xfrm>
          <a:prstGeom prst="rect">
            <a:avLst/>
          </a:prstGeom>
          <a:solidFill>
            <a:srgbClr val="D9EEF2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38928" y="162763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GitHub repository with visible commit history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766560" y="1490472"/>
            <a:ext cx="1508760" cy="841248"/>
          </a:xfrm>
          <a:prstGeom prst="rect">
            <a:avLst/>
          </a:prstGeom>
          <a:solidFill>
            <a:srgbClr val="DDF3E8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76288" y="162763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with setup, run, seed, and test instructions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029200" y="2496312"/>
            <a:ext cx="1508760" cy="841248"/>
          </a:xfrm>
          <a:prstGeom prst="rect">
            <a:avLst/>
          </a:prstGeom>
          <a:solidFill>
            <a:srgbClr val="F7E6C7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38928" y="263347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documentation PDF, technical report PDF, and presentation deck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569B7EB-2B60-0DC5-4742-9B961EBE1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90472"/>
            <a:ext cx="3657600" cy="22455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 and Technical Report Highlights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143000" cy="256032"/>
          </a:xfrm>
          <a:prstGeom prst="rect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34072" y="3840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ORAL EXAM FLOW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3794760" cy="2907792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207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presentation path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96112" y="1554480"/>
            <a:ext cx="256032" cy="25603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9105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80160" y="15453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GitHub repository and README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896112" y="2167128"/>
            <a:ext cx="256032" cy="25603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20370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0" y="21579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commit history and project deliverables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896112" y="2779776"/>
            <a:ext cx="256032" cy="25603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28163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80160" y="2770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Swagger /docs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96112" y="3392424"/>
            <a:ext cx="256032" cy="256032"/>
          </a:xfrm>
          <a:prstGeom prst="ellipse">
            <a:avLst/>
          </a:prstGeom>
          <a:solidFill>
            <a:srgbClr val="137C8B"/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34290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recipe, link ingredients, show nutrition and category analytics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4645152" y="987552"/>
            <a:ext cx="3794760" cy="2907792"/>
          </a:xfrm>
          <a:prstGeom prst="rect">
            <a:avLst/>
          </a:prstGeom>
          <a:solidFill>
            <a:srgbClr val="EAF4F6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207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report highlights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82896" y="1554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Rationale for choosing FastAPI, SQLite, and a layered design</a:t>
            </a:r>
            <a:endParaRPr lang="en-US" sz="1340" dirty="0"/>
          </a:p>
          <a:p>
            <a:pPr marL="342900" indent="-342900">
              <a:buSzPct val="100000"/>
              <a:buChar char="•"/>
            </a:pPr>
            <a:r>
              <a:rPr lang="en-US" sz="13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approach, route-conflict lesson, limitations, and future work</a:t>
            </a:r>
            <a:endParaRPr lang="en-US" sz="1340" dirty="0"/>
          </a:p>
          <a:p>
            <a:pPr marL="342900" indent="-342900">
              <a:buSzPct val="100000"/>
              <a:buChar char="•"/>
            </a:pPr>
            <a:r>
              <a:rPr lang="en-US" sz="13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declaration included transparently in the report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4892040" y="3200400"/>
            <a:ext cx="306324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7DEE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84064" y="336499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gives examiners a clean path from repository evidence to working endpoints and supporting documents.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02920" y="4517136"/>
            <a:ext cx="8092440" cy="0"/>
          </a:xfrm>
          <a:prstGeom prst="line">
            <a:avLst/>
          </a:prstGeom>
          <a:noFill/>
          <a:ln w="15240">
            <a:solidFill>
              <a:srgbClr val="D7D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Report Highlights and Q&amp;A Readiness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3931920" cy="237744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D8E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2984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7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outcome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77824" y="162763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satisfies the coursework brief with a runnable SQL-backed API, visible version history, documentation, testing evidence, and a defensible architecture.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4956048" y="12984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56048" y="162763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 from API key auth to JWT-based authentication</a:t>
            </a:r>
            <a:endParaRPr lang="en-US" sz="1320" dirty="0"/>
          </a:p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analytics and richer recipe filtering</a:t>
            </a:r>
            <a:endParaRPr lang="en-US" sz="1320" dirty="0"/>
          </a:p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SQLite to PostgreSQL for a stronger deployment story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4736592" y="3054096"/>
            <a:ext cx="3703320" cy="841248"/>
          </a:xfrm>
          <a:prstGeom prst="rect">
            <a:avLst/>
          </a:prstGeom>
          <a:solidFill>
            <a:srgbClr val="137C8B">
              <a:alpha val="92000"/>
            </a:srgbClr>
          </a:solidFill>
          <a:ln w="12700">
            <a:solidFill>
              <a:srgbClr val="137C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32552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declaration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83480" y="3502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was used for planning, debugging support, and documentation drafting, with final technical decisions kept under student control.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685800" y="4187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ready: architecture choices, testing evidence, route design, and submission deliverables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4709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609</Words>
  <Application>Microsoft Office PowerPoint</Application>
  <PresentationFormat>全屏显示(16:9)</PresentationFormat>
  <Paragraphs>122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University Coursework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Nutrition and Recipe Analytics API</dc:title>
  <dc:subject>XJCO3011 Oral Presentation</dc:subject>
  <dc:creator>Shuyu Cao</dc:creator>
  <cp:lastModifiedBy>书毓 曹</cp:lastModifiedBy>
  <cp:revision>8</cp:revision>
  <dcterms:created xsi:type="dcterms:W3CDTF">2026-04-21T02:19:42Z</dcterms:created>
  <dcterms:modified xsi:type="dcterms:W3CDTF">2026-04-21T03:22:30Z</dcterms:modified>
</cp:coreProperties>
</file>