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2B">
              <a:alpha val="90000"/>
            </a:srgbClr>
          </a:solidFill>
          <a:ln w="12700">
            <a:solidFill>
              <a:srgbClr val="0F1B2B">
                <a:alpha val="0"/>
              </a:srgbClr>
            </a:solidFill>
            <a:prstDash val="solid"/>
          </a:ln>
        </p:spPr>
      </p:sp>
      <p:pic>
        <p:nvPicPr>
          <p:cNvPr id="3" name="Image 0" descr="C:\Users\26089\Desktop\Web Services and Web Data\cw1\.worktrees\feature-nutrition-api\slides\assets\hero-cov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411480"/>
            <a:ext cx="2926080" cy="4023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669280" y="411480"/>
            <a:ext cx="2926080" cy="4023360"/>
          </a:xfrm>
          <a:prstGeom prst="rect">
            <a:avLst/>
          </a:prstGeom>
          <a:solidFill>
            <a:srgbClr val="132238">
              <a:alpha val="6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8046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E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XJCO3011 Web Services and Web Data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58368" y="1335024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Nutrition and Recipe Analytics API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58368" y="2359152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E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+ SQLite coursework project with CRUD, derived nutrition analytics, automated testing, and submission-ready deliverables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58368" y="3675888"/>
            <a:ext cx="3035808" cy="585216"/>
          </a:xfrm>
          <a:prstGeom prst="rect">
            <a:avLst/>
          </a:prstGeom>
          <a:solidFill>
            <a:srgbClr val="1E3849"/>
          </a:solidFill>
          <a:ln w="13970">
            <a:solidFill>
              <a:srgbClr val="D7DEE3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3877056"/>
            <a:ext cx="2697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Shuyu Cao  |  5-minute oral presentation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412480" y="47091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Project Is More Than Basic CRUD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60920" y="329184"/>
            <a:ext cx="1143000" cy="256032"/>
          </a:xfrm>
          <a:prstGeom prst="rect">
            <a:avLst/>
          </a:prstGeom>
          <a:solidFill>
            <a:srgbClr val="137C8B"/>
          </a:solidFill>
          <a:ln w="12700">
            <a:solidFill>
              <a:srgbClr val="137C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34072" y="384048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SCOPE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932688"/>
            <a:ext cx="3977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recipe API is a good coursework domain because it needs both transactions and calculation.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1783080"/>
            <a:ext cx="3566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Recipes and ingredients form a real many-to-many relational model.</a:t>
            </a:r>
            <a:endParaRPr lang="en-US" sz="1550" dirty="0"/>
          </a:p>
          <a:p>
            <a:pPr marL="342900" indent="-342900">
              <a:buSzPct val="100000"/>
              <a:buChar char="•"/>
            </a:pPr>
            <a:r>
              <a:rPr lang="en-US" sz="15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Nutrition totals are derived from linked ingredient quantities rather than typed in manually.</a:t>
            </a:r>
            <a:endParaRPr lang="en-US" sz="1550" dirty="0"/>
          </a:p>
          <a:p>
            <a:pPr marL="342900" indent="-342900">
              <a:buSzPct val="100000"/>
              <a:buChar char="•"/>
            </a:pPr>
            <a:r>
              <a:rPr lang="en-US" sz="15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API can demonstrate CRUD, validation, authentication, and analytics in one coherent system.</a:t>
            </a:r>
            <a:endParaRPr lang="en-US" sz="1550" dirty="0"/>
          </a:p>
        </p:txBody>
      </p:sp>
      <p:pic>
        <p:nvPicPr>
          <p:cNvPr id="7" name="Image 0" descr="C:\Users\26089\Desktop\Web Services and Web Data\cw1\.worktrees\feature-nutrition-api\slides\assets\problem-visu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2040" y="960120"/>
            <a:ext cx="3547872" cy="29077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20640" y="123444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data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74920" y="14813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recipes + ingredients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16752" y="182880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7C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382512" y="188366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relational storage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150608" y="182880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7C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516368" y="1883664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output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4517136"/>
            <a:ext cx="8092440" cy="0"/>
          </a:xfrm>
          <a:prstGeom prst="line">
            <a:avLst/>
          </a:prstGeom>
          <a:noFill/>
          <a:ln w="15240">
            <a:solidFill>
              <a:srgbClr val="D7DEE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0" y="47091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and Technology Stack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60920" y="329184"/>
            <a:ext cx="1143000" cy="256032"/>
          </a:xfrm>
          <a:prstGeom prst="rect">
            <a:avLst/>
          </a:prstGeom>
          <a:solidFill>
            <a:srgbClr val="137C8B"/>
          </a:solidFill>
          <a:ln w="12700">
            <a:solidFill>
              <a:srgbClr val="137C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34072" y="384048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DESIGN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21792" y="969264"/>
            <a:ext cx="1920240" cy="3182112"/>
          </a:xfrm>
          <a:prstGeom prst="rect">
            <a:avLst/>
          </a:prstGeom>
          <a:solidFill>
            <a:srgbClr val="FFFFFF"/>
          </a:solidFill>
          <a:ln w="13970">
            <a:solidFill>
              <a:srgbClr val="D7DEE3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1704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1481328"/>
            <a:ext cx="1481328" cy="310896"/>
          </a:xfrm>
          <a:prstGeom prst="rect">
            <a:avLst/>
          </a:prstGeom>
          <a:solidFill>
            <a:srgbClr val="EAF4F6"/>
          </a:solidFill>
          <a:ln w="13970">
            <a:solidFill>
              <a:srgbClr val="D7DEE3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1572768"/>
            <a:ext cx="1234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822960" y="1956816"/>
            <a:ext cx="1481328" cy="310896"/>
          </a:xfrm>
          <a:prstGeom prst="rect">
            <a:avLst/>
          </a:prstGeom>
          <a:solidFill>
            <a:srgbClr val="F0F4F7"/>
          </a:solidFill>
          <a:ln w="13970">
            <a:solidFill>
              <a:srgbClr val="D7DEE3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32688" y="2048256"/>
            <a:ext cx="1234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822960" y="2432304"/>
            <a:ext cx="1481328" cy="310896"/>
          </a:xfrm>
          <a:prstGeom prst="rect">
            <a:avLst/>
          </a:prstGeom>
          <a:solidFill>
            <a:srgbClr val="EAF4F6"/>
          </a:solidFill>
          <a:ln w="13970">
            <a:solidFill>
              <a:srgbClr val="D7DEE3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32688" y="2523744"/>
            <a:ext cx="1234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SQLAlchemy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822960" y="2907792"/>
            <a:ext cx="1481328" cy="310896"/>
          </a:xfrm>
          <a:prstGeom prst="rect">
            <a:avLst/>
          </a:prstGeom>
          <a:solidFill>
            <a:srgbClr val="F0F4F7"/>
          </a:solidFill>
          <a:ln w="13970">
            <a:solidFill>
              <a:srgbClr val="D7DEE3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2688" y="2999232"/>
            <a:ext cx="1234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Pydantic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822960" y="3383280"/>
            <a:ext cx="1481328" cy="310896"/>
          </a:xfrm>
          <a:prstGeom prst="rect">
            <a:avLst/>
          </a:prstGeom>
          <a:solidFill>
            <a:srgbClr val="EAF4F6"/>
          </a:solidFill>
          <a:ln w="13970">
            <a:solidFill>
              <a:srgbClr val="D7DEE3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2688" y="3474720"/>
            <a:ext cx="1234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2788920" y="969264"/>
            <a:ext cx="5669280" cy="1965960"/>
          </a:xfrm>
          <a:prstGeom prst="rect">
            <a:avLst/>
          </a:prstGeom>
          <a:solidFill>
            <a:srgbClr val="FFFFFF"/>
          </a:solidFill>
          <a:ln w="13970">
            <a:solidFill>
              <a:srgbClr val="D7DEE3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999232" y="117043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flow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99232" y="1536192"/>
            <a:ext cx="746760" cy="749808"/>
          </a:xfrm>
          <a:prstGeom prst="rect">
            <a:avLst/>
          </a:prstGeom>
          <a:solidFill>
            <a:srgbClr val="EAF4F6"/>
          </a:solidFill>
          <a:ln w="13970">
            <a:solidFill>
              <a:srgbClr val="D7DEE3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054096" y="1792224"/>
            <a:ext cx="637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727704" y="174650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7C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837432" y="1536192"/>
            <a:ext cx="746760" cy="749808"/>
          </a:xfrm>
          <a:prstGeom prst="rect">
            <a:avLst/>
          </a:prstGeom>
          <a:solidFill>
            <a:srgbClr val="EEF3F7"/>
          </a:solidFill>
          <a:ln w="13970">
            <a:solidFill>
              <a:srgbClr val="D7DEE3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892296" y="1792224"/>
            <a:ext cx="637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65904" y="174650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7C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675632" y="1536192"/>
            <a:ext cx="746760" cy="749808"/>
          </a:xfrm>
          <a:prstGeom prst="rect">
            <a:avLst/>
          </a:prstGeom>
          <a:solidFill>
            <a:srgbClr val="EAF4F6"/>
          </a:solidFill>
          <a:ln w="13970">
            <a:solidFill>
              <a:srgbClr val="D7DEE3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30496" y="1792224"/>
            <a:ext cx="637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04104" y="174650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7C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513832" y="1536192"/>
            <a:ext cx="746760" cy="749808"/>
          </a:xfrm>
          <a:prstGeom prst="rect">
            <a:avLst/>
          </a:prstGeom>
          <a:solidFill>
            <a:srgbClr val="EEF3F7"/>
          </a:solidFill>
          <a:ln w="13970">
            <a:solidFill>
              <a:srgbClr val="D7DEE3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568696" y="1792224"/>
            <a:ext cx="637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42304" y="174650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7C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352032" y="1536192"/>
            <a:ext cx="746760" cy="749808"/>
          </a:xfrm>
          <a:prstGeom prst="rect">
            <a:avLst/>
          </a:prstGeom>
          <a:solidFill>
            <a:srgbClr val="EAF4F6"/>
          </a:solidFill>
          <a:ln w="13970">
            <a:solidFill>
              <a:srgbClr val="D7DEE3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6896" y="1792224"/>
            <a:ext cx="637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080504" y="174650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7C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190232" y="1536192"/>
            <a:ext cx="746760" cy="749808"/>
          </a:xfrm>
          <a:prstGeom prst="rect">
            <a:avLst/>
          </a:prstGeom>
          <a:solidFill>
            <a:srgbClr val="EEF3F7"/>
          </a:solidFill>
          <a:ln w="13970">
            <a:solidFill>
              <a:srgbClr val="D7DEE3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245096" y="1792224"/>
            <a:ext cx="637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999232" y="245059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provides typed endpoints and automatic OpenAPI documentation.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layered structure makes the code easier to explain, test, and extend.</a:t>
            </a:r>
            <a:endParaRPr lang="en-US" sz="1320" dirty="0"/>
          </a:p>
        </p:txBody>
      </p:sp>
      <p:sp>
        <p:nvSpPr>
          <p:cNvPr id="37" name="Shape 35"/>
          <p:cNvSpPr/>
          <p:nvPr/>
        </p:nvSpPr>
        <p:spPr>
          <a:xfrm>
            <a:off x="2788920" y="3154680"/>
            <a:ext cx="5669280" cy="996696"/>
          </a:xfrm>
          <a:prstGeom prst="rect">
            <a:avLst/>
          </a:prstGeom>
          <a:solidFill>
            <a:srgbClr val="EAF4F6"/>
          </a:solidFill>
          <a:ln w="13970">
            <a:solidFill>
              <a:srgbClr val="D7DEE3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999232" y="3438144"/>
            <a:ext cx="5138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structure helps in the oral exam because each layer has a clear responsibility: routers for HTTP, schemas for validation, services for derived logic, and models for persistence.</a:t>
            </a:r>
            <a:endParaRPr lang="en-US" sz="1280" dirty="0"/>
          </a:p>
        </p:txBody>
      </p:sp>
      <p:sp>
        <p:nvSpPr>
          <p:cNvPr id="39" name="Shape 37"/>
          <p:cNvSpPr/>
          <p:nvPr/>
        </p:nvSpPr>
        <p:spPr>
          <a:xfrm>
            <a:off x="502920" y="4517136"/>
            <a:ext cx="8092440" cy="0"/>
          </a:xfrm>
          <a:prstGeom prst="line">
            <a:avLst/>
          </a:prstGeom>
          <a:noFill/>
          <a:ln w="15240">
            <a:solidFill>
              <a:srgbClr val="D7DEE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0" y="47091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Design and API Surface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60920" y="329184"/>
            <a:ext cx="1143000" cy="256032"/>
          </a:xfrm>
          <a:prstGeom prst="rect">
            <a:avLst/>
          </a:prstGeom>
          <a:solidFill>
            <a:srgbClr val="137C8B"/>
          </a:solidFill>
          <a:ln w="12700">
            <a:solidFill>
              <a:srgbClr val="137C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34072" y="384048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RELATIONAL MODEL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987552"/>
            <a:ext cx="5349240" cy="2852928"/>
          </a:xfrm>
          <a:prstGeom prst="rect">
            <a:avLst/>
          </a:prstGeom>
          <a:solidFill>
            <a:srgbClr val="FFFFFF"/>
          </a:solidFill>
          <a:ln w="13970">
            <a:solidFill>
              <a:srgbClr val="D7DEE3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0392" y="117043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 view of the core SQL model</a:t>
            </a:r>
            <a:endParaRPr lang="en-US" sz="1100" dirty="0"/>
          </a:p>
        </p:txBody>
      </p:sp>
      <p:pic>
        <p:nvPicPr>
          <p:cNvPr id="7" name="Image 0" descr="C:\Users\26089\Desktop\Web Services and Web Data\cw1\.worktrees\feature-nutrition-api\slides\assets\er-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9536" y="1463040"/>
            <a:ext cx="4892040" cy="2103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36208" y="987552"/>
            <a:ext cx="2267712" cy="2852928"/>
          </a:xfrm>
          <a:prstGeom prst="rect">
            <a:avLst/>
          </a:prstGeom>
          <a:solidFill>
            <a:srgbClr val="FDFEFE"/>
          </a:solidFill>
          <a:ln w="13970">
            <a:solidFill>
              <a:srgbClr val="D7DEE3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46520" y="117043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46520" y="1444752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join table stores quantity_g, so nutrition can be calculated from linked ingredient data instead of hardcoded recipe totals.</a:t>
            </a:r>
            <a:endParaRPr lang="en-US" sz="1130" dirty="0"/>
          </a:p>
        </p:txBody>
      </p:sp>
      <p:pic>
        <p:nvPicPr>
          <p:cNvPr id="11" name="Image 1" descr="C:\Users\26089\Desktop\Web Services and Web Data\cw1\.worktrees\feature-nutrition-api\slides\assets\category-analytics-char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19088" y="2240280"/>
            <a:ext cx="1883664" cy="10789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46520" y="3401568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endpoints</a:t>
            </a:r>
            <a:endParaRPr lang="en-US" sz="940" dirty="0"/>
          </a:p>
        </p:txBody>
      </p:sp>
      <p:sp>
        <p:nvSpPr>
          <p:cNvPr id="13" name="Text 9"/>
          <p:cNvSpPr/>
          <p:nvPr/>
        </p:nvSpPr>
        <p:spPr>
          <a:xfrm>
            <a:off x="6446520" y="3584448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CRUD: /recipes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CRUD: /ingredients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Search: /recipes/search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Links: /recipes/{id}/ingredients</a:t>
            </a:r>
            <a:endParaRPr lang="en-US" sz="870" dirty="0"/>
          </a:p>
        </p:txBody>
      </p:sp>
      <p:sp>
        <p:nvSpPr>
          <p:cNvPr id="14" name="Shape 10"/>
          <p:cNvSpPr/>
          <p:nvPr/>
        </p:nvSpPr>
        <p:spPr>
          <a:xfrm>
            <a:off x="502920" y="4517136"/>
            <a:ext cx="8092440" cy="0"/>
          </a:xfrm>
          <a:prstGeom prst="line">
            <a:avLst/>
          </a:prstGeom>
          <a:noFill/>
          <a:ln w="15240">
            <a:solidFill>
              <a:srgbClr val="D7DEE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412480" y="47091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Security, Validation, and Testing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60920" y="329184"/>
            <a:ext cx="1143000" cy="256032"/>
          </a:xfrm>
          <a:prstGeom prst="rect">
            <a:avLst/>
          </a:prstGeom>
          <a:solidFill>
            <a:srgbClr val="137C8B"/>
          </a:solidFill>
          <a:ln w="12700">
            <a:solidFill>
              <a:srgbClr val="137C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34072" y="384048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QUALITY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13232" y="1097280"/>
            <a:ext cx="1572768" cy="960120"/>
          </a:xfrm>
          <a:prstGeom prst="rect">
            <a:avLst/>
          </a:prstGeom>
          <a:solidFill>
            <a:srgbClr val="DDF3E8"/>
          </a:solidFill>
          <a:ln w="13970">
            <a:solidFill>
              <a:srgbClr val="D7DEE3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0392" y="1225296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166420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tests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87168" y="1097280"/>
            <a:ext cx="1572768" cy="960120"/>
          </a:xfrm>
          <a:prstGeom prst="rect">
            <a:avLst/>
          </a:prstGeom>
          <a:solidFill>
            <a:srgbClr val="D9EEF2"/>
          </a:solidFill>
          <a:ln w="13970">
            <a:solidFill>
              <a:srgbClr val="D7DEE3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24328" y="1225296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96896" y="166420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unauthorized writes blocked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13232" y="2331720"/>
            <a:ext cx="4480560" cy="1627632"/>
          </a:xfrm>
          <a:prstGeom prst="rect">
            <a:avLst/>
          </a:prstGeom>
          <a:solidFill>
            <a:srgbClr val="FFFFFF"/>
          </a:solidFill>
          <a:ln w="13970">
            <a:solidFill>
              <a:srgbClr val="D7DEE3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25603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and validation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81635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endpoints require the X-API-Key header.</a:t>
            </a:r>
            <a:endParaRPr lang="en-US" sz="1320" dirty="0"/>
          </a:p>
          <a:p>
            <a:pPr marL="342900" indent="-342900">
              <a:buSzPct val="100000"/>
              <a:buChar char="•"/>
            </a:pPr>
            <a:r>
              <a:rPr lang="en-US" sz="13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Pydantic validates payload shape and data types before business logic runs.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3328416" y="2651760"/>
            <a:ext cx="1572768" cy="950976"/>
          </a:xfrm>
          <a:prstGeom prst="rect">
            <a:avLst/>
          </a:prstGeom>
          <a:solidFill>
            <a:srgbClr val="F7E6C7"/>
          </a:solidFill>
          <a:ln w="13970">
            <a:solidFill>
              <a:srgbClr val="D7DEE3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11296" y="27797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74720" y="312724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validation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responses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3456432" y="345643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Rejected before service logic runs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40680" y="1097280"/>
            <a:ext cx="2999232" cy="2862072"/>
          </a:xfrm>
          <a:prstGeom prst="rect">
            <a:avLst/>
          </a:prstGeom>
          <a:solidFill>
            <a:srgbClr val="132238"/>
          </a:solidFill>
          <a:ln w="13970">
            <a:solidFill>
              <a:srgbClr val="D7DEE3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50992" y="135331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EE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verification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50992" y="17556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passed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650992" y="226771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| CRUD | search | analytics | nutrition | relationship removal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5650992" y="2999232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D9EE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cover CRUD, search, analytics, nutrition aggregation, and relationship removal.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502920" y="4517136"/>
            <a:ext cx="8092440" cy="0"/>
          </a:xfrm>
          <a:prstGeom prst="line">
            <a:avLst/>
          </a:prstGeom>
          <a:noFill/>
          <a:ln w="15240">
            <a:solidFill>
              <a:srgbClr val="D7DE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47091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Documentation Overview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60920" y="329184"/>
            <a:ext cx="1143000" cy="256032"/>
          </a:xfrm>
          <a:prstGeom prst="rect">
            <a:avLst/>
          </a:prstGeom>
          <a:solidFill>
            <a:srgbClr val="137C8B"/>
          </a:solidFill>
          <a:ln w="12700">
            <a:solidFill>
              <a:srgbClr val="137C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34072" y="384048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 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58368" y="987552"/>
            <a:ext cx="4736592" cy="2926080"/>
          </a:xfrm>
          <a:prstGeom prst="rect">
            <a:avLst/>
          </a:prstGeom>
          <a:solidFill>
            <a:srgbClr val="FFFFFF"/>
          </a:solidFill>
          <a:ln w="13970">
            <a:solidFill>
              <a:srgbClr val="D7DEE3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20700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Swagger UI browser capture</a:t>
            </a:r>
            <a:endParaRPr lang="en-US" sz="1100" dirty="0"/>
          </a:p>
        </p:txBody>
      </p:sp>
      <p:pic>
        <p:nvPicPr>
          <p:cNvPr id="7" name="Image 0" descr="C:\Users\26089\Desktop\Web Services and Web Data\cw1\.worktrees\feature-nutrition-api\slides\assets\swagger-ui-screensh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96112" y="1517904"/>
            <a:ext cx="4279392" cy="22128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596128" y="987552"/>
            <a:ext cx="2852928" cy="2926080"/>
          </a:xfrm>
          <a:prstGeom prst="rect">
            <a:avLst/>
          </a:prstGeom>
          <a:solidFill>
            <a:srgbClr val="EAF4F6"/>
          </a:solidFill>
          <a:ln w="13970">
            <a:solidFill>
              <a:srgbClr val="D7DEE3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15584" y="120700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evidence and pack</a:t>
            </a:r>
            <a:endParaRPr lang="en-US" sz="1100" dirty="0"/>
          </a:p>
        </p:txBody>
      </p:sp>
      <p:pic>
        <p:nvPicPr>
          <p:cNvPr id="10" name="Image 1" descr="C:\Users\26089\Desktop\Web Services and Web Data\cw1\.worktrees\feature-nutrition-api\slides\assets\api-response-exampl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97296" y="1536192"/>
            <a:ext cx="2441448" cy="1645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833872" y="3328416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/docs screenshot | api-documentation.pdf | Live JSON responses</a:t>
            </a:r>
            <a:endParaRPr lang="en-US" sz="1020" dirty="0"/>
          </a:p>
        </p:txBody>
      </p:sp>
      <p:sp>
        <p:nvSpPr>
          <p:cNvPr id="12" name="Text 8"/>
          <p:cNvSpPr/>
          <p:nvPr/>
        </p:nvSpPr>
        <p:spPr>
          <a:xfrm>
            <a:off x="5833872" y="3639312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documentation was also exported into a separate PDF deliverable.</a:t>
            </a:r>
            <a:endParaRPr lang="en-US" sz="940" dirty="0"/>
          </a:p>
        </p:txBody>
      </p:sp>
      <p:sp>
        <p:nvSpPr>
          <p:cNvPr id="13" name="Shape 9"/>
          <p:cNvSpPr/>
          <p:nvPr/>
        </p:nvSpPr>
        <p:spPr>
          <a:xfrm>
            <a:off x="502920" y="4517136"/>
            <a:ext cx="8092440" cy="0"/>
          </a:xfrm>
          <a:prstGeom prst="line">
            <a:avLst/>
          </a:prstGeom>
          <a:noFill/>
          <a:ln w="15240">
            <a:solidFill>
              <a:srgbClr val="D7DEE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412480" y="47091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Version Control and Deliverables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60920" y="329184"/>
            <a:ext cx="1143000" cy="256032"/>
          </a:xfrm>
          <a:prstGeom prst="rect">
            <a:avLst/>
          </a:prstGeom>
          <a:solidFill>
            <a:srgbClr val="137C8B"/>
          </a:solidFill>
          <a:ln w="12700">
            <a:solidFill>
              <a:srgbClr val="137C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34072" y="384048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58368" y="987552"/>
            <a:ext cx="3931920" cy="2944368"/>
          </a:xfrm>
          <a:prstGeom prst="rect">
            <a:avLst/>
          </a:prstGeom>
          <a:solidFill>
            <a:srgbClr val="FFFFFF"/>
          </a:solidFill>
          <a:ln w="13970">
            <a:solidFill>
              <a:srgbClr val="D7DEE3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120700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history evidence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8680" y="1572768"/>
            <a:ext cx="0" cy="1920240"/>
          </a:xfrm>
          <a:prstGeom prst="line">
            <a:avLst/>
          </a:prstGeom>
          <a:noFill/>
          <a:ln w="25400">
            <a:solidFill>
              <a:srgbClr val="137C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389888"/>
            <a:ext cx="164592" cy="164592"/>
          </a:xfrm>
          <a:prstGeom prst="ellipse">
            <a:avLst/>
          </a:prstGeom>
          <a:solidFill>
            <a:srgbClr val="137C8B"/>
          </a:solidFill>
          <a:ln w="12700">
            <a:solidFill>
              <a:srgbClr val="137C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36245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 complete recipe crud operations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786384" y="1920240"/>
            <a:ext cx="164592" cy="164592"/>
          </a:xfrm>
          <a:prstGeom prst="ellipse">
            <a:avLst/>
          </a:prstGeom>
          <a:solidFill>
            <a:srgbClr val="137C8B"/>
          </a:solidFill>
          <a:ln w="12700">
            <a:solidFill>
              <a:srgbClr val="137C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189280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 add recipe nutrition analytics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786384" y="2450592"/>
            <a:ext cx="164592" cy="164592"/>
          </a:xfrm>
          <a:prstGeom prst="ellipse">
            <a:avLst/>
          </a:prstGeom>
          <a:solidFill>
            <a:srgbClr val="137C8B"/>
          </a:solidFill>
          <a:ln w="12700">
            <a:solidFill>
              <a:srgbClr val="137C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242316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 add analytics endpoints and project documentation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786384" y="2980944"/>
            <a:ext cx="164592" cy="164592"/>
          </a:xfrm>
          <a:prstGeom prst="ellipse">
            <a:avLst/>
          </a:prstGeom>
          <a:solidFill>
            <a:srgbClr val="137C8B"/>
          </a:solidFill>
          <a:ln w="12700">
            <a:solidFill>
              <a:srgbClr val="137C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295351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docs: refine report and presentation materials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4800600" y="987552"/>
            <a:ext cx="3639312" cy="2944368"/>
          </a:xfrm>
          <a:prstGeom prst="rect">
            <a:avLst/>
          </a:prstGeom>
          <a:solidFill>
            <a:srgbClr val="FFFFFF"/>
          </a:solidFill>
          <a:ln w="13970">
            <a:solidFill>
              <a:srgbClr val="D7DEE3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120700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deliverables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1188720"/>
            <a:ext cx="1508760" cy="841248"/>
          </a:xfrm>
          <a:prstGeom prst="rect">
            <a:avLst/>
          </a:prstGeom>
          <a:solidFill>
            <a:srgbClr val="D9EEF2"/>
          </a:solidFill>
          <a:ln w="13970">
            <a:solidFill>
              <a:srgbClr val="D7DEE3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138928" y="132588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GitHub repository with visible commit history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766560" y="1188720"/>
            <a:ext cx="1508760" cy="841248"/>
          </a:xfrm>
          <a:prstGeom prst="rect">
            <a:avLst/>
          </a:prstGeom>
          <a:solidFill>
            <a:srgbClr val="DDF3E8"/>
          </a:solidFill>
          <a:ln w="13970">
            <a:solidFill>
              <a:srgbClr val="D7DEE3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76288" y="132588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README with setup, run, seed, and test instructions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5029200" y="2194560"/>
            <a:ext cx="1508760" cy="841248"/>
          </a:xfrm>
          <a:prstGeom prst="rect">
            <a:avLst/>
          </a:prstGeom>
          <a:solidFill>
            <a:srgbClr val="F7E6C7"/>
          </a:solidFill>
          <a:ln w="13970">
            <a:solidFill>
              <a:srgbClr val="D7DEE3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138928" y="233172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documentation PDF, technical report PDF, and presentation deck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502920" y="4517136"/>
            <a:ext cx="8092440" cy="0"/>
          </a:xfrm>
          <a:prstGeom prst="line">
            <a:avLst/>
          </a:prstGeom>
          <a:noFill/>
          <a:ln w="15240">
            <a:solidFill>
              <a:srgbClr val="D7DE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47091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Flow and Technical Report Highlights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60920" y="329184"/>
            <a:ext cx="1143000" cy="256032"/>
          </a:xfrm>
          <a:prstGeom prst="rect">
            <a:avLst/>
          </a:prstGeom>
          <a:solidFill>
            <a:srgbClr val="137C8B"/>
          </a:solidFill>
          <a:ln w="12700">
            <a:solidFill>
              <a:srgbClr val="137C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34072" y="384048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ORAL EXAM FLOW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987552"/>
            <a:ext cx="3794760" cy="2907792"/>
          </a:xfrm>
          <a:prstGeom prst="rect">
            <a:avLst/>
          </a:prstGeom>
          <a:solidFill>
            <a:srgbClr val="FFFFFF"/>
          </a:solidFill>
          <a:ln w="13970">
            <a:solidFill>
              <a:srgbClr val="D7DEE3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2070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presentation path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96112" y="1554480"/>
            <a:ext cx="256032" cy="256032"/>
          </a:xfrm>
          <a:prstGeom prst="ellipse">
            <a:avLst/>
          </a:prstGeom>
          <a:solidFill>
            <a:srgbClr val="137C8B"/>
          </a:solidFill>
          <a:ln w="12700">
            <a:solidFill>
              <a:srgbClr val="137C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159105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80160" y="154533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GitHub repository and README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896112" y="2167128"/>
            <a:ext cx="256032" cy="256032"/>
          </a:xfrm>
          <a:prstGeom prst="ellipse">
            <a:avLst/>
          </a:prstGeom>
          <a:solidFill>
            <a:srgbClr val="137C8B"/>
          </a:solidFill>
          <a:ln w="12700">
            <a:solidFill>
              <a:srgbClr val="137C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" y="2203704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80160" y="215798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commit history and project deliverables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896112" y="2779776"/>
            <a:ext cx="256032" cy="256032"/>
          </a:xfrm>
          <a:prstGeom prst="ellipse">
            <a:avLst/>
          </a:prstGeom>
          <a:solidFill>
            <a:srgbClr val="137C8B"/>
          </a:solidFill>
          <a:ln w="12700">
            <a:solidFill>
              <a:srgbClr val="137C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" y="2816352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280160" y="277063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Swagger /docs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896112" y="3392424"/>
            <a:ext cx="256032" cy="256032"/>
          </a:xfrm>
          <a:prstGeom prst="ellipse">
            <a:avLst/>
          </a:prstGeom>
          <a:solidFill>
            <a:srgbClr val="137C8B"/>
          </a:solidFill>
          <a:ln w="12700">
            <a:solidFill>
              <a:srgbClr val="137C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" y="3429000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280160" y="33832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recipe, link ingredients, show nutrition and category analytics</a:t>
            </a:r>
            <a:endParaRPr lang="en-US" sz="1140" dirty="0"/>
          </a:p>
        </p:txBody>
      </p:sp>
      <p:sp>
        <p:nvSpPr>
          <p:cNvPr id="19" name="Shape 17"/>
          <p:cNvSpPr/>
          <p:nvPr/>
        </p:nvSpPr>
        <p:spPr>
          <a:xfrm>
            <a:off x="4645152" y="987552"/>
            <a:ext cx="3794760" cy="2907792"/>
          </a:xfrm>
          <a:prstGeom prst="rect">
            <a:avLst/>
          </a:prstGeom>
          <a:solidFill>
            <a:srgbClr val="EAF4F6"/>
          </a:solidFill>
          <a:ln w="13970">
            <a:solidFill>
              <a:srgbClr val="D7DEE3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120700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report highlights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82896" y="15544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4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Rationale for choosing FastAPI, SQLite, and a layered design</a:t>
            </a:r>
            <a:endParaRPr lang="en-US" sz="1340" dirty="0"/>
          </a:p>
          <a:p>
            <a:pPr marL="342900" indent="-342900">
              <a:buSzPct val="100000"/>
              <a:buChar char="•"/>
            </a:pPr>
            <a:r>
              <a:rPr lang="en-US" sz="134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approach, route-conflict lesson, limitations, and future work</a:t>
            </a:r>
            <a:endParaRPr lang="en-US" sz="1340" dirty="0"/>
          </a:p>
          <a:p>
            <a:pPr marL="342900" indent="-342900">
              <a:buSzPct val="100000"/>
              <a:buChar char="•"/>
            </a:pPr>
            <a:r>
              <a:rPr lang="en-US" sz="134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 declaration included transparently in the report</a:t>
            </a:r>
            <a:endParaRPr lang="en-US" sz="1340" dirty="0"/>
          </a:p>
        </p:txBody>
      </p:sp>
      <p:sp>
        <p:nvSpPr>
          <p:cNvPr id="22" name="Shape 20"/>
          <p:cNvSpPr/>
          <p:nvPr/>
        </p:nvSpPr>
        <p:spPr>
          <a:xfrm>
            <a:off x="4892040" y="3200400"/>
            <a:ext cx="3063240" cy="530352"/>
          </a:xfrm>
          <a:prstGeom prst="rect">
            <a:avLst/>
          </a:prstGeom>
          <a:solidFill>
            <a:srgbClr val="FFFFFF"/>
          </a:solidFill>
          <a:ln w="13970">
            <a:solidFill>
              <a:srgbClr val="D7DEE3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84064" y="3364992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gives examiners a clean path from repository evidence to working endpoints and supporting documents.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02920" y="4517136"/>
            <a:ext cx="8092440" cy="0"/>
          </a:xfrm>
          <a:prstGeom prst="line">
            <a:avLst/>
          </a:prstGeom>
          <a:noFill/>
          <a:ln w="15240">
            <a:solidFill>
              <a:srgbClr val="D7DE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47091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Report Highlights and Q&amp;A Readiness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58368" y="1051560"/>
            <a:ext cx="3931920" cy="237744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D8E8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7824" y="129844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7C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outcome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77824" y="1627632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satisfies the coursework brief with a runnable SQL-backed API, visible version history, documentation, testing evidence, and a defensible architecture.</a:t>
            </a:r>
            <a:endParaRPr lang="en-US" sz="1520" dirty="0"/>
          </a:p>
        </p:txBody>
      </p:sp>
      <p:sp>
        <p:nvSpPr>
          <p:cNvPr id="6" name="Text 4"/>
          <p:cNvSpPr/>
          <p:nvPr/>
        </p:nvSpPr>
        <p:spPr>
          <a:xfrm>
            <a:off x="4956048" y="12984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E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56048" y="1627632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Upgrade from API key auth to JWT-based authentication</a:t>
            </a:r>
            <a:endParaRPr lang="en-US" sz="1320" dirty="0"/>
          </a:p>
          <a:p>
            <a:pPr marL="342900" indent="-3429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analytics and richer recipe filtering</a:t>
            </a:r>
            <a:endParaRPr lang="en-US" sz="1320" dirty="0"/>
          </a:p>
          <a:p>
            <a:pPr marL="342900" indent="-3429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from SQLite to PostgreSQL for a stronger deployment story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4736592" y="3054096"/>
            <a:ext cx="3703320" cy="841248"/>
          </a:xfrm>
          <a:prstGeom prst="rect">
            <a:avLst/>
          </a:prstGeom>
          <a:solidFill>
            <a:srgbClr val="137C8B">
              <a:alpha val="92000"/>
            </a:srgbClr>
          </a:solidFill>
          <a:ln w="12700">
            <a:solidFill>
              <a:srgbClr val="137C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3255264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EE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 declaration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83480" y="35021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 was used for planning, debugging support, and documentation drafting, with final technical decisions kept under student control.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685800" y="418795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Q&amp;A ready: architecture choices, testing evidence, route design, and submission deliverables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0" y="47091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University Coursework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Nutrition and Recipe Analytics API</dc:title>
  <dc:subject>XJCO3011 Oral Presentation</dc:subject>
  <dc:creator>Shuyu Cao</dc:creator>
  <cp:lastModifiedBy>Shuyu Cao</cp:lastModifiedBy>
  <cp:revision>1</cp:revision>
  <dcterms:created xsi:type="dcterms:W3CDTF">2026-04-21T02:19:42Z</dcterms:created>
  <dcterms:modified xsi:type="dcterms:W3CDTF">2026-04-21T02:19:42Z</dcterms:modified>
</cp:coreProperties>
</file>